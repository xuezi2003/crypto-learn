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7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9.xml" ContentType="application/vnd.openxmlformats-officedocument.presentationml.notesSlide+xml"/>
  <Override PartName="/ppt/ink/ink13.xml" ContentType="application/inkml+xml"/>
  <Override PartName="/ppt/notesSlides/notesSlide10.xml" ContentType="application/vnd.openxmlformats-officedocument.presentationml.notesSlide+xml"/>
  <Override PartName="/ppt/ink/ink14.xml" ContentType="application/inkml+xml"/>
  <Override PartName="/ppt/notesSlides/notesSlide11.xml" ContentType="application/vnd.openxmlformats-officedocument.presentationml.notesSlide+xml"/>
  <Override PartName="/ppt/ink/ink15.xml" ContentType="application/inkml+xml"/>
  <Override PartName="/ppt/notesSlides/notesSlide12.xml" ContentType="application/vnd.openxmlformats-officedocument.presentationml.notesSlide+xml"/>
  <Override PartName="/ppt/ink/ink16.xml" ContentType="application/inkml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1" r:id="rId4"/>
    <p:sldId id="284" r:id="rId5"/>
    <p:sldId id="262" r:id="rId6"/>
    <p:sldId id="263" r:id="rId7"/>
    <p:sldId id="265" r:id="rId8"/>
    <p:sldId id="260" r:id="rId9"/>
    <p:sldId id="266" r:id="rId10"/>
    <p:sldId id="268" r:id="rId11"/>
    <p:sldId id="269" r:id="rId12"/>
    <p:sldId id="270" r:id="rId13"/>
    <p:sldId id="272" r:id="rId14"/>
    <p:sldId id="267" r:id="rId15"/>
    <p:sldId id="271" r:id="rId16"/>
    <p:sldId id="286" r:id="rId17"/>
    <p:sldId id="277" r:id="rId18"/>
    <p:sldId id="282" r:id="rId19"/>
    <p:sldId id="274" r:id="rId20"/>
    <p:sldId id="275" r:id="rId21"/>
    <p:sldId id="276" r:id="rId22"/>
    <p:sldId id="285" r:id="rId23"/>
    <p:sldId id="287" r:id="rId24"/>
    <p:sldId id="258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82900" autoAdjust="0"/>
  </p:normalViewPr>
  <p:slideViewPr>
    <p:cSldViewPr snapToGrid="0">
      <p:cViewPr varScale="1">
        <p:scale>
          <a:sx n="77" d="100"/>
          <a:sy n="77" d="100"/>
        </p:scale>
        <p:origin x="32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54:35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7:22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7:38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75 24575,'6'-6'0,"8"-2"0,2-6 0,4 0 0,5 1 0,1 4 0,3 4 0,2 1 0,1 3 0,3 0 0,1 2 0,0-1 0,0 1 0,-6 3 0,-7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7:43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24575,'3'0'0,"7"0"0,8 0 0,7 0 0,15 0 0,7 0 0,0 0 0,0 0 0,-3 0 0,-2 0 0,-3 0 0,5 0 0,1 0 0,-1-6 0,-9-2-8191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50:22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51:39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51:41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7:22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7:38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75 24575,'6'-6'0,"8"-2"0,2-6 0,4 0 0,5 1 0,1 4 0,3 4 0,2 1 0,1 3 0,3 0 0,1 2 0,0-1 0,0 1 0,-6 3 0,-7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7:43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24575,'3'0'0,"7"0"0,8 0 0,7 0 0,15 0 0,7 0 0,0 0 0,0 0 0,-3 0 0,-2 0 0,-3 0 0,5 0 0,1 0 0,-1-6 0,-9-2-8191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8:28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9:25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9:02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9:02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49:02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2:56:19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B7719-54C2-43A8-8DB8-283C66AAB4BA}" type="datetimeFigureOut">
              <a:rPr lang="zh-CN" altLang="en-US" smtClean="0"/>
              <a:t>2024/11/16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095CD-EE94-4E6B-9DA5-88873CF1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41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数据泄露</a:t>
            </a:r>
            <a:r>
              <a:rPr lang="zh-CN" altLang="en-US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风险</a:t>
            </a:r>
            <a:endParaRPr lang="zh-CN" altLang="zh-CN" sz="1800" dirty="0">
              <a:effectLst/>
              <a:latin typeface="Arial" panose="020B0604020202020204" pitchFamily="34" charset="0"/>
              <a:ea typeface="仿宋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495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39FA-C6F2-9C8D-72F0-7373C28A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860BDD-8197-7DFA-EA50-238DAB562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7D051B-31F4-7D19-C7FE-97DD2CBAF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对多种方式的讨论：归结到可移植性，是否容易被离线攻击，实用性，强安全性上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C74E81-A36D-5726-8BFD-6AED3A010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915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对多种方式的讨论：归结到可移植性，是否容易被离线攻击，实用性，强安全性上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320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该实验在</a:t>
            </a:r>
            <a:r>
              <a:rPr lang="zh-CN" altLang="en-US" b="0" i="0" dirty="0">
                <a:effectLst/>
                <a:latin typeface="Inter"/>
              </a:rPr>
              <a:t>亚马逊网络服务（简称 </a:t>
            </a:r>
            <a:r>
              <a:rPr lang="en-US" altLang="zh-CN" b="0" i="0" dirty="0">
                <a:effectLst/>
                <a:latin typeface="Inter"/>
              </a:rPr>
              <a:t>AWS</a:t>
            </a:r>
            <a:r>
              <a:rPr lang="zh-CN" altLang="en-US" b="0" i="0" dirty="0">
                <a:effectLst/>
                <a:latin typeface="Inter"/>
              </a:rPr>
              <a:t>）上进行。仅使用亚马逊 </a:t>
            </a:r>
            <a:r>
              <a:rPr lang="en-US" altLang="zh-CN" b="0" i="0" dirty="0">
                <a:effectLst/>
                <a:latin typeface="Inter"/>
              </a:rPr>
              <a:t>S3 </a:t>
            </a:r>
            <a:r>
              <a:rPr lang="zh-CN" altLang="en-US" b="0" i="0" dirty="0">
                <a:effectLst/>
                <a:latin typeface="Inter"/>
              </a:rPr>
              <a:t>的 </a:t>
            </a:r>
            <a:r>
              <a:rPr lang="en-US" altLang="zh-CN" b="0" i="0" dirty="0">
                <a:effectLst/>
                <a:latin typeface="Inter"/>
              </a:rPr>
              <a:t>Java </a:t>
            </a:r>
            <a:r>
              <a:rPr lang="zh-CN" altLang="en-US" b="0" i="0" dirty="0">
                <a:effectLst/>
                <a:latin typeface="Inter"/>
              </a:rPr>
              <a:t>创建 </a:t>
            </a:r>
            <a:r>
              <a:rPr lang="en-US" altLang="zh-CN" b="0" i="0" dirty="0">
                <a:effectLst/>
                <a:latin typeface="Inter"/>
              </a:rPr>
              <a:t>/ </a:t>
            </a:r>
            <a:r>
              <a:rPr lang="zh-CN" altLang="en-US" b="0" i="0" dirty="0">
                <a:effectLst/>
                <a:latin typeface="Inter"/>
              </a:rPr>
              <a:t>放置 </a:t>
            </a:r>
            <a:r>
              <a:rPr lang="en-US" altLang="zh-CN" b="0" i="0" dirty="0">
                <a:effectLst/>
                <a:latin typeface="Inter"/>
              </a:rPr>
              <a:t>/ </a:t>
            </a:r>
            <a:r>
              <a:rPr lang="zh-CN" altLang="en-US" b="0" i="0" dirty="0">
                <a:effectLst/>
                <a:latin typeface="Inter"/>
              </a:rPr>
              <a:t>获取 </a:t>
            </a:r>
            <a:r>
              <a:rPr lang="en-US" altLang="zh-CN" b="0" i="0" dirty="0">
                <a:effectLst/>
                <a:latin typeface="Inter"/>
              </a:rPr>
              <a:t>API </a:t>
            </a:r>
            <a:r>
              <a:rPr lang="zh-CN" altLang="en-US" b="0" i="0" dirty="0">
                <a:effectLst/>
                <a:latin typeface="Inter"/>
              </a:rPr>
              <a:t>进行存储和检索。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数据服务器部署在东京的亚马逊 </a:t>
            </a:r>
            <a:r>
              <a:rPr lang="en-US" altLang="zh-CN" b="0" i="0" dirty="0">
                <a:effectLst/>
                <a:latin typeface="Inter"/>
              </a:rPr>
              <a:t>S3 </a:t>
            </a:r>
            <a:r>
              <a:rPr lang="zh-CN" altLang="en-US" b="0" i="0" dirty="0">
                <a:effectLst/>
                <a:latin typeface="Inter"/>
              </a:rPr>
              <a:t>上。密钥服务器部署在大阪的 </a:t>
            </a:r>
            <a:r>
              <a:rPr lang="en-US" altLang="zh-CN" b="0" i="0" dirty="0">
                <a:effectLst/>
                <a:latin typeface="Inter"/>
              </a:rPr>
              <a:t>AWS EC2 </a:t>
            </a:r>
            <a:r>
              <a:rPr lang="zh-CN" altLang="en-US" b="0" i="0" dirty="0">
                <a:effectLst/>
                <a:latin typeface="Inter"/>
              </a:rPr>
              <a:t>上，使用 </a:t>
            </a:r>
            <a:r>
              <a:rPr lang="en-US" altLang="zh-CN" b="0" i="0" dirty="0">
                <a:effectLst/>
                <a:latin typeface="Inter"/>
              </a:rPr>
              <a:t>t2.micro </a:t>
            </a:r>
            <a:r>
              <a:rPr lang="zh-CN" altLang="en-US" b="0" i="0" dirty="0">
                <a:effectLst/>
                <a:latin typeface="Inter"/>
              </a:rPr>
              <a:t>实例。客户端部署在首尔的 </a:t>
            </a:r>
            <a:r>
              <a:rPr lang="en-US" altLang="zh-CN" b="0" i="0" dirty="0">
                <a:effectLst/>
                <a:latin typeface="Inter"/>
              </a:rPr>
              <a:t>AWS EC2 </a:t>
            </a:r>
            <a:r>
              <a:rPr lang="zh-CN" altLang="en-US" b="0" i="0" dirty="0">
                <a:effectLst/>
                <a:latin typeface="Inter"/>
              </a:rPr>
              <a:t>上，使用 </a:t>
            </a:r>
            <a:r>
              <a:rPr lang="en-US" altLang="zh-CN" b="0" i="0" dirty="0">
                <a:effectLst/>
                <a:latin typeface="Inter"/>
              </a:rPr>
              <a:t>t3.xlarge </a:t>
            </a:r>
            <a:r>
              <a:rPr lang="zh-CN" altLang="en-US" b="0" i="0" dirty="0">
                <a:effectLst/>
                <a:latin typeface="Inter"/>
              </a:rPr>
              <a:t>实例，其配置与流行的 </a:t>
            </a:r>
            <a:r>
              <a:rPr lang="en-US" altLang="zh-CN" b="0" i="0" dirty="0">
                <a:effectLst/>
                <a:latin typeface="Inter"/>
              </a:rPr>
              <a:t>PC </a:t>
            </a:r>
            <a:r>
              <a:rPr lang="zh-CN" altLang="en-US" b="0" i="0" dirty="0">
                <a:effectLst/>
                <a:latin typeface="Inter"/>
              </a:rPr>
              <a:t>相似。操作系统是 </a:t>
            </a:r>
            <a:r>
              <a:rPr lang="en-US" altLang="zh-CN" b="0" i="0" dirty="0">
                <a:effectLst/>
                <a:latin typeface="Inter"/>
              </a:rPr>
              <a:t>ubuntu 18.04 LTS</a:t>
            </a:r>
            <a:r>
              <a:rPr lang="zh-CN" altLang="en-US" b="0" i="0" dirty="0">
                <a:effectLst/>
                <a:latin typeface="Inter"/>
              </a:rPr>
              <a:t>。这三个都位于不同区域，以模拟远程客户端和物理上分离的服务。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作者测量了密钥服务器和客户端的开销。密钥服务器开销占 </a:t>
            </a:r>
            <a:r>
              <a:rPr lang="en-US" altLang="zh-CN" b="0" i="0" dirty="0">
                <a:effectLst/>
                <a:latin typeface="Inter"/>
              </a:rPr>
              <a:t>IBOPRF </a:t>
            </a:r>
            <a:r>
              <a:rPr lang="zh-CN" altLang="en-US" b="0" i="0" dirty="0">
                <a:effectLst/>
                <a:latin typeface="Inter"/>
              </a:rPr>
              <a:t>的不到 </a:t>
            </a:r>
            <a:r>
              <a:rPr lang="en-US" altLang="zh-CN" b="0" i="0" dirty="0">
                <a:effectLst/>
                <a:latin typeface="Inter"/>
              </a:rPr>
              <a:t>1%</a:t>
            </a:r>
            <a:r>
              <a:rPr lang="zh-CN" altLang="en-US" b="0" i="0" dirty="0">
                <a:effectLst/>
                <a:latin typeface="Inter"/>
              </a:rPr>
              <a:t>，</a:t>
            </a:r>
            <a:r>
              <a:rPr lang="en-US" altLang="zh-CN" b="0" i="0" dirty="0">
                <a:effectLst/>
                <a:latin typeface="Inter"/>
              </a:rPr>
              <a:t>TLS </a:t>
            </a:r>
            <a:r>
              <a:rPr lang="zh-CN" altLang="en-US" b="0" i="0" dirty="0">
                <a:effectLst/>
                <a:latin typeface="Inter"/>
              </a:rPr>
              <a:t>握手和网络延迟主导了 </a:t>
            </a:r>
            <a:r>
              <a:rPr lang="en-US" altLang="zh-CN" b="0" i="0" dirty="0">
                <a:effectLst/>
                <a:latin typeface="Inter"/>
              </a:rPr>
              <a:t>IBOPRF </a:t>
            </a:r>
            <a:r>
              <a:rPr lang="zh-CN" altLang="en-US" b="0" i="0" dirty="0">
                <a:effectLst/>
                <a:latin typeface="Inter"/>
              </a:rPr>
              <a:t>成本</a:t>
            </a:r>
            <a:endParaRPr lang="en-US" altLang="zh-CN" dirty="0"/>
          </a:p>
          <a:p>
            <a:r>
              <a:rPr lang="zh-CN" altLang="en-US" dirty="0"/>
              <a:t>为什么优化后检索文件部分反而更快了？采用分块并行计算</a:t>
            </a:r>
            <a:r>
              <a:rPr lang="zh-CN" altLang="en-US" b="0" i="0" dirty="0">
                <a:effectLst/>
                <a:latin typeface="Inter"/>
              </a:rPr>
              <a:t>：可以在上传 </a:t>
            </a:r>
            <a:r>
              <a:rPr lang="en-US" altLang="zh-CN" b="0" i="0" dirty="0">
                <a:effectLst/>
                <a:latin typeface="Inter"/>
              </a:rPr>
              <a:t>/ </a:t>
            </a:r>
            <a:r>
              <a:rPr lang="zh-CN" altLang="en-US" b="0" i="0" dirty="0">
                <a:effectLst/>
                <a:latin typeface="Inter"/>
              </a:rPr>
              <a:t>下载时并行加密 </a:t>
            </a:r>
            <a:r>
              <a:rPr lang="en-US" altLang="zh-CN" b="0" i="0" dirty="0">
                <a:effectLst/>
                <a:latin typeface="Inter"/>
              </a:rPr>
              <a:t>/ </a:t>
            </a:r>
            <a:r>
              <a:rPr lang="zh-CN" altLang="en-US" b="0" i="0" dirty="0">
                <a:effectLst/>
                <a:latin typeface="Inter"/>
              </a:rPr>
              <a:t>解密数据，检索时将解密和磁盘写入操作与下载数据过程结合在一起。</a:t>
            </a:r>
            <a:endParaRPr lang="en-US" altLang="zh-CN" b="0" i="0" dirty="0"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313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DEM</a:t>
            </a:r>
            <a:r>
              <a:rPr lang="zh-CN" altLang="en-US" dirty="0"/>
              <a:t>部分的加密可以通过任何标准的身份验证加密轻松实例化，安全性强于</a:t>
            </a:r>
            <a:r>
              <a:rPr lang="en-US" altLang="zh-CN" dirty="0"/>
              <a:t>KEM</a:t>
            </a:r>
          </a:p>
          <a:p>
            <a:r>
              <a:rPr lang="zh-CN" altLang="en-US" dirty="0"/>
              <a:t>定义</a:t>
            </a:r>
            <a:r>
              <a:rPr lang="en-US" altLang="zh-CN" dirty="0"/>
              <a:t>1</a:t>
            </a:r>
            <a:r>
              <a:rPr lang="zh-CN" altLang="en-US" dirty="0"/>
              <a:t>我们的便携式盲云存储系统的</a:t>
            </a:r>
            <a:r>
              <a:rPr lang="en-US" altLang="zh-CN" dirty="0"/>
              <a:t>KEM</a:t>
            </a:r>
            <a:r>
              <a:rPr lang="zh-CN" altLang="en-US" dirty="0"/>
              <a:t>部分是设置后的交互过程（</a:t>
            </a:r>
            <a:r>
              <a:rPr lang="en-US" altLang="zh-CN" dirty="0"/>
              <a:t>Register, Give, Take</a:t>
            </a:r>
            <a:r>
              <a:rPr lang="zh-CN" altLang="en-US" dirty="0"/>
              <a:t>）的元组，每个过程都意味着在三方（建模为交互式图灵机）之间运行：用户</a:t>
            </a:r>
            <a:r>
              <a:rPr lang="en-US" altLang="zh-CN" dirty="0"/>
              <a:t>U</a:t>
            </a:r>
            <a:r>
              <a:rPr lang="zh-CN" altLang="en-US" dirty="0"/>
              <a:t>，密钥服务器</a:t>
            </a:r>
            <a:r>
              <a:rPr lang="en-US" altLang="zh-CN" dirty="0"/>
              <a:t>K</a:t>
            </a:r>
            <a:r>
              <a:rPr lang="zh-CN" altLang="en-US" dirty="0"/>
              <a:t>和数据服务器</a:t>
            </a:r>
            <a:r>
              <a:rPr lang="en-US" altLang="zh-CN" dirty="0"/>
              <a:t>d</a:t>
            </a:r>
            <a:r>
              <a:rPr lang="zh-CN" altLang="en-US" dirty="0"/>
              <a:t>。每个过程都有三个子程序，即（</a:t>
            </a:r>
            <a:r>
              <a:rPr lang="en-US" altLang="zh-CN" dirty="0" err="1"/>
              <a:t>URegister</a:t>
            </a:r>
            <a:r>
              <a:rPr lang="en-US" altLang="zh-CN" dirty="0"/>
              <a:t>, </a:t>
            </a:r>
            <a:r>
              <a:rPr lang="en-US" altLang="zh-CN" dirty="0" err="1"/>
              <a:t>UGive</a:t>
            </a:r>
            <a:r>
              <a:rPr lang="en-US" altLang="zh-CN" dirty="0"/>
              <a:t>, </a:t>
            </a:r>
            <a:r>
              <a:rPr lang="en-US" altLang="zh-CN" dirty="0" err="1"/>
              <a:t>UTake</a:t>
            </a:r>
            <a:r>
              <a:rPr lang="zh-CN" altLang="en-US" dirty="0"/>
              <a:t>）， （</a:t>
            </a:r>
            <a:r>
              <a:rPr lang="en-US" altLang="zh-CN" dirty="0" err="1"/>
              <a:t>KRegister</a:t>
            </a:r>
            <a:r>
              <a:rPr lang="en-US" altLang="zh-CN" dirty="0"/>
              <a:t>, </a:t>
            </a:r>
            <a:r>
              <a:rPr lang="en-US" altLang="zh-CN" dirty="0" err="1"/>
              <a:t>KGive</a:t>
            </a:r>
            <a:r>
              <a:rPr lang="en-US" altLang="zh-CN" dirty="0"/>
              <a:t>, </a:t>
            </a:r>
            <a:r>
              <a:rPr lang="en-US" altLang="zh-CN" dirty="0" err="1"/>
              <a:t>KTake</a:t>
            </a:r>
            <a:r>
              <a:rPr lang="zh-CN" altLang="en-US" dirty="0"/>
              <a:t>）和（</a:t>
            </a:r>
            <a:r>
              <a:rPr lang="en-US" altLang="zh-CN" dirty="0" err="1"/>
              <a:t>dreregister</a:t>
            </a:r>
            <a:r>
              <a:rPr lang="en-US" altLang="zh-CN" dirty="0"/>
              <a:t>, </a:t>
            </a:r>
            <a:r>
              <a:rPr lang="en-US" altLang="zh-CN" dirty="0" err="1"/>
              <a:t>DGive</a:t>
            </a:r>
            <a:r>
              <a:rPr lang="en-US" altLang="zh-CN" dirty="0"/>
              <a:t>, </a:t>
            </a:r>
            <a:r>
              <a:rPr lang="en-US" altLang="zh-CN" dirty="0" err="1"/>
              <a:t>DTake</a:t>
            </a:r>
            <a:r>
              <a:rPr lang="zh-CN" altLang="en-US" dirty="0"/>
              <a:t>）每个过程</a:t>
            </a:r>
            <a:r>
              <a:rPr lang="en-US" altLang="zh-CN" dirty="0"/>
              <a:t>Register</a:t>
            </a:r>
            <a:r>
              <a:rPr lang="zh-CN" altLang="en-US" dirty="0"/>
              <a:t>， </a:t>
            </a:r>
            <a:r>
              <a:rPr lang="en-US" altLang="zh-CN" dirty="0"/>
              <a:t>Give</a:t>
            </a:r>
            <a:r>
              <a:rPr lang="zh-CN" altLang="en-US" dirty="0"/>
              <a:t>和</a:t>
            </a:r>
            <a:r>
              <a:rPr lang="en-US" altLang="zh-CN" dirty="0"/>
              <a:t>Take</a:t>
            </a:r>
            <a:r>
              <a:rPr lang="zh-CN" altLang="en-US" dirty="0"/>
              <a:t>。在</a:t>
            </a:r>
            <a:r>
              <a:rPr lang="en-US" altLang="zh-CN" dirty="0"/>
              <a:t>PBCS</a:t>
            </a:r>
            <a:r>
              <a:rPr lang="zh-CN" altLang="en-US" dirty="0"/>
              <a:t>系统中，密钥服务器</a:t>
            </a:r>
            <a:r>
              <a:rPr lang="en-US" altLang="zh-CN" dirty="0"/>
              <a:t>K</a:t>
            </a:r>
            <a:r>
              <a:rPr lang="zh-CN" altLang="en-US" dirty="0"/>
              <a:t>和数据服务器</a:t>
            </a:r>
            <a:r>
              <a:rPr lang="en-US" altLang="zh-CN" dirty="0"/>
              <a:t>D</a:t>
            </a:r>
            <a:r>
              <a:rPr lang="zh-CN" altLang="en-US" dirty="0"/>
              <a:t>将分别保持它们的状态</a:t>
            </a:r>
            <a:r>
              <a:rPr lang="en-US" altLang="zh-CN" dirty="0" err="1"/>
              <a:t>sx</a:t>
            </a:r>
            <a:r>
              <a:rPr lang="zh-CN" altLang="en-US" dirty="0"/>
              <a:t>和</a:t>
            </a:r>
            <a:r>
              <a:rPr lang="en-US" altLang="zh-CN" dirty="0" err="1"/>
              <a:t>sp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设置：密钥服务器和数据服务器分别生成它们的公共参数</a:t>
            </a:r>
            <a:r>
              <a:rPr lang="en-US" altLang="zh-CN" dirty="0" err="1"/>
              <a:t>ppx</a:t>
            </a:r>
            <a:r>
              <a:rPr lang="zh-CN" altLang="en-US" dirty="0"/>
              <a:t>和</a:t>
            </a:r>
            <a:r>
              <a:rPr lang="en-US" altLang="zh-CN" dirty="0" err="1"/>
              <a:t>ppo</a:t>
            </a:r>
            <a:r>
              <a:rPr lang="zh-CN" altLang="en-US" dirty="0"/>
              <a:t>，以及秘密参数</a:t>
            </a:r>
            <a:r>
              <a:rPr lang="en-US" altLang="zh-CN" dirty="0" err="1"/>
              <a:t>spx</a:t>
            </a:r>
            <a:r>
              <a:rPr lang="zh-CN" altLang="en-US" dirty="0"/>
              <a:t>和</a:t>
            </a:r>
            <a:r>
              <a:rPr lang="en-US" altLang="zh-CN" dirty="0" err="1"/>
              <a:t>spo</a:t>
            </a:r>
            <a:r>
              <a:rPr lang="zh-CN" altLang="en-US" dirty="0"/>
              <a:t>。此外，服务器将启动它们的内部状态</a:t>
            </a:r>
            <a:r>
              <a:rPr lang="en-US" altLang="zh-CN" dirty="0" err="1"/>
              <a:t>sx</a:t>
            </a:r>
            <a:r>
              <a:rPr lang="zh-CN" altLang="en-US" dirty="0"/>
              <a:t>和</a:t>
            </a:r>
            <a:r>
              <a:rPr lang="en-US" altLang="zh-CN" dirty="0" err="1"/>
              <a:t>sp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注册：客户端选择自己的</a:t>
            </a:r>
            <a:r>
              <a:rPr lang="en-US" altLang="zh-CN" dirty="0"/>
              <a:t>id</a:t>
            </a:r>
            <a:r>
              <a:rPr lang="zh-CN" altLang="en-US" dirty="0"/>
              <a:t>和密码</a:t>
            </a:r>
            <a:r>
              <a:rPr lang="en-US" altLang="zh-CN" dirty="0"/>
              <a:t>PP</a:t>
            </a:r>
            <a:r>
              <a:rPr lang="zh-CN" altLang="en-US" dirty="0"/>
              <a:t>。给定公共参数</a:t>
            </a:r>
            <a:r>
              <a:rPr lang="en-US" altLang="zh-CN" dirty="0" err="1"/>
              <a:t>ppx</a:t>
            </a:r>
            <a:r>
              <a:rPr lang="zh-CN" altLang="en-US" dirty="0"/>
              <a:t>和</a:t>
            </a:r>
            <a:r>
              <a:rPr lang="en-US" altLang="zh-CN" dirty="0" err="1"/>
              <a:t>ppo</a:t>
            </a:r>
            <a:r>
              <a:rPr lang="zh-CN" altLang="en-US" dirty="0"/>
              <a:t>，客户端将与两个服务器交互，并在云服务器上创建一个帐户。如果成功，两个服务器将相应地更新它们的状态</a:t>
            </a:r>
            <a:r>
              <a:rPr lang="en-US" altLang="zh-CN" dirty="0" err="1"/>
              <a:t>sx</a:t>
            </a:r>
            <a:r>
              <a:rPr lang="zh-CN" altLang="en-US" dirty="0"/>
              <a:t>，</a:t>
            </a:r>
            <a:r>
              <a:rPr lang="en-US" altLang="zh-CN" dirty="0"/>
              <a:t>SD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给出：客户端将自己的</a:t>
            </a:r>
            <a:r>
              <a:rPr lang="en-US" altLang="zh-CN" dirty="0"/>
              <a:t>id</a:t>
            </a:r>
            <a:r>
              <a:rPr lang="zh-CN" altLang="en-US" dirty="0"/>
              <a:t>、密码</a:t>
            </a:r>
            <a:r>
              <a:rPr lang="en-US" altLang="zh-CN" dirty="0"/>
              <a:t>PP</a:t>
            </a:r>
            <a:r>
              <a:rPr lang="zh-CN" altLang="en-US" dirty="0"/>
              <a:t>和服务器的公共参数</a:t>
            </a:r>
            <a:r>
              <a:rPr lang="en-US" altLang="zh-CN" dirty="0" err="1"/>
              <a:t>ppx</a:t>
            </a:r>
            <a:r>
              <a:rPr lang="zh-CN" altLang="en-US" dirty="0"/>
              <a:t>、</a:t>
            </a:r>
            <a:r>
              <a:rPr lang="en-US" altLang="zh-CN" dirty="0" err="1"/>
              <a:t>PPo</a:t>
            </a:r>
            <a:r>
              <a:rPr lang="zh-CN" altLang="en-US" dirty="0"/>
              <a:t>作为输入。服务器分别将它们的状态</a:t>
            </a:r>
            <a:r>
              <a:rPr lang="en-US" altLang="zh-CN" dirty="0" err="1"/>
              <a:t>sx</a:t>
            </a:r>
            <a:r>
              <a:rPr lang="zh-CN" altLang="en-US" dirty="0"/>
              <a:t>、</a:t>
            </a:r>
            <a:r>
              <a:rPr lang="en-US" altLang="zh-CN" dirty="0" err="1"/>
              <a:t>sp</a:t>
            </a:r>
            <a:r>
              <a:rPr lang="zh-CN" altLang="en-US" dirty="0"/>
              <a:t>和秘密参数</a:t>
            </a:r>
            <a:r>
              <a:rPr lang="en-US" altLang="zh-CN" dirty="0" err="1"/>
              <a:t>spx</a:t>
            </a:r>
            <a:r>
              <a:rPr lang="zh-CN" altLang="en-US" dirty="0"/>
              <a:t>、</a:t>
            </a:r>
            <a:r>
              <a:rPr lang="en-US" altLang="zh-CN" dirty="0" err="1"/>
              <a:t>spp</a:t>
            </a:r>
            <a:r>
              <a:rPr lang="zh-CN" altLang="en-US" dirty="0"/>
              <a:t>作为输入。如果成功，客户端获得一个随机生成的</a:t>
            </a:r>
            <a:r>
              <a:rPr lang="en-US" altLang="zh-CN" dirty="0" err="1"/>
              <a:t>mk</a:t>
            </a:r>
            <a:r>
              <a:rPr lang="zh-CN" altLang="en-US" dirty="0"/>
              <a:t>，服务器更新它们的状态</a:t>
            </a:r>
            <a:r>
              <a:rPr lang="en-US" altLang="zh-CN" dirty="0" err="1"/>
              <a:t>sx</a:t>
            </a:r>
            <a:r>
              <a:rPr lang="zh-CN" altLang="en-US" dirty="0"/>
              <a:t>和</a:t>
            </a:r>
            <a:r>
              <a:rPr lang="en-US" altLang="zh-CN" dirty="0" err="1"/>
              <a:t>sp</a:t>
            </a:r>
            <a:r>
              <a:rPr lang="zh-CN" altLang="en-US" dirty="0"/>
              <a:t>，分别包含关于</a:t>
            </a:r>
            <a:r>
              <a:rPr lang="en-US" altLang="zh-CN" dirty="0" err="1"/>
              <a:t>mk</a:t>
            </a:r>
            <a:r>
              <a:rPr lang="zh-CN" altLang="en-US" dirty="0"/>
              <a:t>的份额。</a:t>
            </a:r>
            <a:endParaRPr lang="en-US" altLang="zh-CN" dirty="0"/>
          </a:p>
          <a:p>
            <a:r>
              <a:rPr lang="en-US" altLang="zh-CN" dirty="0"/>
              <a:t>Take</a:t>
            </a:r>
            <a:r>
              <a:rPr lang="zh-CN" altLang="en-US" dirty="0"/>
              <a:t>：在这个过程中，客户端检索存储的主密钥</a:t>
            </a:r>
            <a:r>
              <a:rPr lang="en-US" altLang="zh-CN" dirty="0" err="1"/>
              <a:t>mk</a:t>
            </a:r>
            <a:r>
              <a:rPr lang="zh-CN" altLang="en-US" dirty="0"/>
              <a:t>，它将在稍后的</a:t>
            </a:r>
            <a:r>
              <a:rPr lang="en-US" altLang="zh-CN" dirty="0"/>
              <a:t>DEM</a:t>
            </a:r>
            <a:r>
              <a:rPr lang="zh-CN" altLang="en-US" dirty="0"/>
              <a:t>部分中使用。客户端输入</a:t>
            </a:r>
            <a:r>
              <a:rPr lang="en-US" altLang="zh-CN" dirty="0"/>
              <a:t>id</a:t>
            </a:r>
            <a:r>
              <a:rPr lang="zh-CN" altLang="en-US" dirty="0"/>
              <a:t>、</a:t>
            </a:r>
            <a:r>
              <a:rPr lang="en-US" altLang="zh-CN" dirty="0"/>
              <a:t>PP</a:t>
            </a:r>
            <a:r>
              <a:rPr lang="zh-CN" altLang="en-US" dirty="0"/>
              <a:t>和服务器的公共参数</a:t>
            </a:r>
            <a:r>
              <a:rPr lang="en-US" altLang="zh-CN" dirty="0" err="1"/>
              <a:t>ppx</a:t>
            </a:r>
            <a:r>
              <a:rPr lang="zh-CN" altLang="en-US" dirty="0"/>
              <a:t>、</a:t>
            </a:r>
            <a:r>
              <a:rPr lang="en-US" altLang="zh-CN" dirty="0" err="1"/>
              <a:t>ppo</a:t>
            </a:r>
            <a:r>
              <a:rPr lang="zh-CN" altLang="en-US" dirty="0"/>
              <a:t>，服务器分别输入其状态</a:t>
            </a:r>
            <a:r>
              <a:rPr lang="en-US" altLang="zh-CN" dirty="0"/>
              <a:t>sg</a:t>
            </a:r>
            <a:r>
              <a:rPr lang="zh-CN" altLang="en-US" dirty="0"/>
              <a:t>、</a:t>
            </a:r>
            <a:r>
              <a:rPr lang="en-US" altLang="zh-CN" dirty="0" err="1"/>
              <a:t>sp</a:t>
            </a:r>
            <a:r>
              <a:rPr lang="zh-CN" altLang="en-US" dirty="0"/>
              <a:t>和秘密参数</a:t>
            </a:r>
            <a:r>
              <a:rPr lang="en-US" altLang="zh-CN" dirty="0" err="1"/>
              <a:t>sp</a:t>
            </a:r>
            <a:r>
              <a:rPr lang="zh-CN" altLang="en-US" dirty="0"/>
              <a:t>、</a:t>
            </a:r>
            <a:r>
              <a:rPr lang="en-US" altLang="zh-CN" dirty="0" err="1"/>
              <a:t>spp</a:t>
            </a:r>
            <a:r>
              <a:rPr lang="zh-CN" altLang="en-US" dirty="0"/>
              <a:t>。如果成功，服务器将分别更新它们的状态。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987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A376-B1A2-BFD5-6DDA-62667DD9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F4F33B-F06E-DA5F-F34D-8CC1CF4AC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4A32D5-1AB0-D28F-F374-BE47D6617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注册 密钥服务器持有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主密钥。客户端选择一个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和一个易记的密码短语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pp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。密钥服务器和数据服务器将分别为每个身份维护一个元组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Lk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和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Ld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,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用于存储状态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S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。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KDFXX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是作为随机预言机的密钥派生函数。</a:t>
            </a:r>
            <a:r>
              <a:rPr lang="el-GR" altLang="zh-CN" b="0" i="0" dirty="0">
                <a:solidFill>
                  <a:srgbClr val="1C1F23"/>
                </a:solidFill>
                <a:effectLst/>
                <a:latin typeface="Inter"/>
              </a:rPr>
              <a:t>Β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和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γid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分别是数据服务器和密钥服务器的登录存根。当通过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2HashDH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实例化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时，注册过程如图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5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所示。客户端使用其口令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PP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从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中获取口令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pwd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，并使用它运行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AuthReg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以注册到数据服务器，数据服务器获取并存储登录子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ßia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以供将来的登录验证。此外，客户端从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PP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和随机种子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Sid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中派生身份验证令牌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t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。之后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sid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将被存储到数据服务器。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t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作为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App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登录密码，将注册到密钥服务器，密钥服务器获取并存储登录存根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Yia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，以备以后登录验证。装箱的消息意味着它们受到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TLS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的保护。安全性要求在密钥服务器端为一个特定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调用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服务的次数是有限的。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08E60B-554A-0ED0-3FC1-29566DE2E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005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注册 密钥服务器持有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主密钥。客户端选择一个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和一个易记的密码短语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pp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。密钥服务器和数据服务器将分别为每个身份维护一个元组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Lk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和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Ld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,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用于存储状态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S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。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KDFXX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是作为随机预言机的密钥派生函数。</a:t>
            </a:r>
            <a:r>
              <a:rPr lang="el-GR" altLang="zh-CN" b="0" i="0" dirty="0">
                <a:solidFill>
                  <a:srgbClr val="1C1F23"/>
                </a:solidFill>
                <a:effectLst/>
                <a:latin typeface="Inter"/>
              </a:rPr>
              <a:t>Β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和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γid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分别是数据服务器和密钥服务器的登录存根。当通过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2HashDH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实例化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时，注册过程如图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5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所示。客户端使用其口令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PP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从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中获取口令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pwd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，并使用它运行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AuthReg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以注册到数据服务器，数据服务器获取并存储登录子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ßia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以供将来的登录验证。此外，客户端从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PP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和随机种子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Sid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中派生身份验证令牌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t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。之后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sid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将被存储到数据服务器。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t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作为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App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登录密码，将注册到密钥服务器，密钥服务器获取并存储登录存根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Yia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，以备以后登录验证。装箱的消息意味着它们受到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TLS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的保护。安全性要求在密钥服务器端为一个特定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调用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服务的次数是有限的。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722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当协议开始时，具有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的客户端持有密码短语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pp,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数据存储服务器持有登录存根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γid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，并维护一个列表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Ld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来记录随机性。密钥服务器保存一个列表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Lk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、登录存根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βid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及其主密钥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mk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。设（</a:t>
            </a:r>
            <a:r>
              <a:rPr lang="en-US" altLang="zh-CN" b="0" i="0" dirty="0" err="1">
                <a:solidFill>
                  <a:srgbClr val="1C1F23"/>
                </a:solidFill>
                <a:effectLst/>
                <a:latin typeface="Inter"/>
              </a:rPr>
              <a:t>KeyGen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，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Enc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，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Dec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）是具有密文空间的对称加密方案的算法。设函数是密钥服务器计算的如第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3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节所定义的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。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KDF123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是可以建模为随机预言机的密钥派生函数。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H4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也可以建模为随机预言机。当在第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3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节中通过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2HashDH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实例化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IBOPRF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时，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give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过程的详细图示如图 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6 </a:t>
            </a:r>
            <a:r>
              <a:rPr lang="zh-CN" altLang="en-US" b="0" i="0" dirty="0">
                <a:solidFill>
                  <a:srgbClr val="1C1F23"/>
                </a:solidFill>
                <a:effectLst/>
                <a:latin typeface="Inter"/>
              </a:rPr>
              <a:t>所示。</a:t>
            </a:r>
            <a:endParaRPr lang="en-US" altLang="zh-CN" b="0" i="0" dirty="0">
              <a:solidFill>
                <a:srgbClr val="1C1F23"/>
              </a:solidFill>
              <a:effectLst/>
              <a:latin typeface="Inter"/>
            </a:endParaRPr>
          </a:p>
          <a:p>
            <a:r>
              <a:rPr lang="en-US" altLang="zh-CN" dirty="0"/>
              <a:t>Give</a:t>
            </a:r>
            <a:r>
              <a:rPr lang="zh-CN" altLang="en-US" dirty="0"/>
              <a:t>过程客户机通过密钥服务器派生的密码</a:t>
            </a:r>
            <a:r>
              <a:rPr lang="en-US" altLang="zh-CN" dirty="0" err="1"/>
              <a:t>pwd</a:t>
            </a:r>
            <a:r>
              <a:rPr lang="zh-CN" altLang="en-US" dirty="0"/>
              <a:t>登录数据服务器，密钥服务器存储用于登录验证的登录存根</a:t>
            </a:r>
            <a:r>
              <a:rPr lang="en-US" altLang="zh-CN" dirty="0"/>
              <a:t>γ</a:t>
            </a:r>
            <a:r>
              <a:rPr lang="zh-CN" altLang="en-US" dirty="0"/>
              <a:t>。然后，客户端重构认证令牌</a:t>
            </a:r>
            <a:r>
              <a:rPr lang="en-US" altLang="zh-CN" dirty="0"/>
              <a:t>t</a:t>
            </a:r>
            <a:r>
              <a:rPr lang="zh-CN" altLang="en-US" dirty="0"/>
              <a:t>和认证加密密钥</a:t>
            </a:r>
            <a:r>
              <a:rPr lang="en-US" altLang="zh-CN" dirty="0"/>
              <a:t>ki</a:t>
            </a:r>
            <a:r>
              <a:rPr lang="zh-CN" altLang="en-US" dirty="0"/>
              <a:t>和</a:t>
            </a:r>
            <a:r>
              <a:rPr lang="en-US" altLang="zh-CN" dirty="0"/>
              <a:t>k2</a:t>
            </a:r>
            <a:r>
              <a:rPr lang="zh-CN" altLang="en-US" dirty="0"/>
              <a:t>。客户端使用</a:t>
            </a:r>
            <a:r>
              <a:rPr lang="en-US" altLang="zh-CN" dirty="0"/>
              <a:t>id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登录存储用于登录验证的登录存根</a:t>
            </a:r>
            <a:r>
              <a:rPr lang="en-US" altLang="zh-CN" dirty="0"/>
              <a:t>id</a:t>
            </a:r>
            <a:r>
              <a:rPr lang="zh-CN" altLang="en-US" dirty="0"/>
              <a:t>的密钥服务器，并将主密钥</a:t>
            </a:r>
            <a:r>
              <a:rPr lang="en-US" altLang="zh-CN" dirty="0" err="1"/>
              <a:t>ct</a:t>
            </a:r>
            <a:r>
              <a:rPr lang="zh-CN" altLang="en-US" dirty="0"/>
              <a:t>的密文和相应的标签</a:t>
            </a:r>
            <a:r>
              <a:rPr lang="en-US" altLang="zh-CN" dirty="0"/>
              <a:t>t</a:t>
            </a:r>
            <a:r>
              <a:rPr lang="zh-CN" altLang="en-US" dirty="0"/>
              <a:t>存入密钥服务器。装箱的消息意味着它们受到</a:t>
            </a:r>
            <a:r>
              <a:rPr lang="en-US" altLang="zh-CN" dirty="0"/>
              <a:t>TLS</a:t>
            </a:r>
            <a:r>
              <a:rPr lang="zh-CN" altLang="en-US" dirty="0"/>
              <a:t>的保护。</a:t>
            </a:r>
            <a:r>
              <a:rPr lang="en-US" altLang="zh-CN" dirty="0"/>
              <a:t>Hi</a:t>
            </a:r>
            <a:r>
              <a:rPr lang="zh-CN" altLang="en-US" dirty="0"/>
              <a:t>， </a:t>
            </a:r>
            <a:r>
              <a:rPr lang="en-US" altLang="zh-CN" dirty="0"/>
              <a:t>H2</a:t>
            </a:r>
            <a:r>
              <a:rPr lang="zh-CN" altLang="en-US" dirty="0"/>
              <a:t>和</a:t>
            </a:r>
            <a:r>
              <a:rPr lang="en-US" altLang="zh-CN" dirty="0"/>
              <a:t>H3</a:t>
            </a:r>
            <a:r>
              <a:rPr lang="zh-CN" altLang="en-US" dirty="0"/>
              <a:t>是在第</a:t>
            </a:r>
            <a:r>
              <a:rPr lang="en-US" altLang="zh-CN" dirty="0"/>
              <a:t>3</a:t>
            </a:r>
            <a:r>
              <a:rPr lang="zh-CN" altLang="en-US" dirty="0"/>
              <a:t>节定义的</a:t>
            </a:r>
            <a:r>
              <a:rPr lang="en-US" altLang="zh-CN" dirty="0"/>
              <a:t>2HashDH IBOPRF</a:t>
            </a:r>
            <a:r>
              <a:rPr lang="zh-CN" altLang="en-US" dirty="0"/>
              <a:t>中使用的哈希函数。安全性要求在密钥服务器端为一个特定</a:t>
            </a:r>
            <a:r>
              <a:rPr lang="en-US" altLang="zh-CN" dirty="0"/>
              <a:t>id</a:t>
            </a:r>
            <a:r>
              <a:rPr lang="zh-CN" altLang="en-US" dirty="0"/>
              <a:t>调用</a:t>
            </a:r>
            <a:r>
              <a:rPr lang="en-US" altLang="zh-CN" dirty="0"/>
              <a:t>IBOPRF</a:t>
            </a:r>
            <a:r>
              <a:rPr lang="zh-CN" altLang="en-US" dirty="0"/>
              <a:t>服务的次数是有限制的。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955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effectLst/>
                <a:latin typeface="Inter"/>
              </a:rPr>
              <a:t>take</a:t>
            </a:r>
            <a:r>
              <a:rPr lang="zh-CN" altLang="en-US" b="0" i="0" dirty="0">
                <a:effectLst/>
                <a:latin typeface="Inter"/>
              </a:rPr>
              <a:t>客户端从两个服务器检索主密钥。</a:t>
            </a:r>
            <a:r>
              <a:rPr lang="en-US" altLang="zh-CN" b="0" i="0" dirty="0">
                <a:effectLst/>
                <a:latin typeface="Inter"/>
              </a:rPr>
              <a:t>take</a:t>
            </a:r>
            <a:r>
              <a:rPr lang="zh-CN" altLang="en-US" b="0" i="0" dirty="0">
                <a:effectLst/>
                <a:latin typeface="Inter"/>
              </a:rPr>
              <a:t>协议将使用与</a:t>
            </a:r>
            <a:r>
              <a:rPr lang="en-US" altLang="zh-CN" b="0" i="0" dirty="0">
                <a:effectLst/>
                <a:latin typeface="Inter"/>
              </a:rPr>
              <a:t>give</a:t>
            </a:r>
            <a:r>
              <a:rPr lang="zh-CN" altLang="en-US" b="0" i="0" dirty="0">
                <a:effectLst/>
                <a:latin typeface="Inter"/>
              </a:rPr>
              <a:t>相同的原语。</a:t>
            </a:r>
            <a:r>
              <a:rPr lang="en-US" altLang="zh-CN" b="0" i="0" dirty="0">
                <a:effectLst/>
                <a:latin typeface="Inter"/>
              </a:rPr>
              <a:t>take</a:t>
            </a:r>
            <a:r>
              <a:rPr lang="zh-CN" altLang="en-US" b="0" i="0" dirty="0">
                <a:effectLst/>
                <a:latin typeface="Inter"/>
              </a:rPr>
              <a:t>开始时，具有</a:t>
            </a:r>
            <a:r>
              <a:rPr lang="en-US" altLang="zh-CN" b="0" i="0" dirty="0">
                <a:effectLst/>
                <a:latin typeface="Inter"/>
              </a:rPr>
              <a:t>id</a:t>
            </a:r>
            <a:r>
              <a:rPr lang="zh-CN" altLang="en-US" b="0" i="0" dirty="0">
                <a:effectLst/>
                <a:latin typeface="Inter"/>
              </a:rPr>
              <a:t>的客户端持有密码短语</a:t>
            </a:r>
            <a:r>
              <a:rPr lang="en-US" altLang="zh-CN" b="0" i="0" dirty="0">
                <a:effectLst/>
                <a:latin typeface="Inter"/>
              </a:rPr>
              <a:t>pp</a:t>
            </a:r>
            <a:r>
              <a:rPr lang="zh-CN" altLang="en-US" b="0" i="0" dirty="0">
                <a:effectLst/>
                <a:latin typeface="Inter"/>
              </a:rPr>
              <a:t>。每个服务器分别持有一个元组</a:t>
            </a:r>
            <a:r>
              <a:rPr lang="en-US" altLang="zh-CN" b="0" i="0" dirty="0">
                <a:effectLst/>
                <a:latin typeface="Inter"/>
              </a:rPr>
              <a:t>L</a:t>
            </a:r>
            <a:r>
              <a:rPr lang="zh-CN" altLang="en-US" b="0" i="0" dirty="0">
                <a:effectLst/>
                <a:latin typeface="Inter"/>
              </a:rPr>
              <a:t>和存根。当在第 </a:t>
            </a:r>
            <a:r>
              <a:rPr lang="en-US" altLang="zh-CN" b="0" i="0" dirty="0">
                <a:effectLst/>
                <a:latin typeface="Inter"/>
              </a:rPr>
              <a:t>3 </a:t>
            </a:r>
            <a:r>
              <a:rPr lang="zh-CN" altLang="en-US" b="0" i="0" dirty="0">
                <a:effectLst/>
                <a:latin typeface="Inter"/>
              </a:rPr>
              <a:t>节中通过 </a:t>
            </a:r>
            <a:r>
              <a:rPr lang="en-US" altLang="zh-CN" b="0" i="0" dirty="0">
                <a:effectLst/>
                <a:latin typeface="Inter"/>
              </a:rPr>
              <a:t>2HashDH </a:t>
            </a:r>
            <a:r>
              <a:rPr lang="zh-CN" altLang="en-US" b="0" i="0" dirty="0">
                <a:effectLst/>
                <a:latin typeface="Inter"/>
              </a:rPr>
              <a:t>实例化 </a:t>
            </a:r>
            <a:r>
              <a:rPr lang="en-US" altLang="zh-CN" b="0" i="0" dirty="0">
                <a:effectLst/>
                <a:latin typeface="Inter"/>
              </a:rPr>
              <a:t>IBOPRF </a:t>
            </a:r>
            <a:r>
              <a:rPr lang="zh-CN" altLang="en-US" b="0" i="0" dirty="0">
                <a:effectLst/>
                <a:latin typeface="Inter"/>
              </a:rPr>
              <a:t>时，获取过程的详细图示如图 </a:t>
            </a:r>
            <a:r>
              <a:rPr lang="en-US" altLang="zh-CN" b="0" i="0" dirty="0">
                <a:effectLst/>
                <a:latin typeface="Inter"/>
              </a:rPr>
              <a:t>7 </a:t>
            </a:r>
            <a:r>
              <a:rPr lang="zh-CN" altLang="en-US" b="0" i="0" dirty="0">
                <a:effectLst/>
                <a:latin typeface="Inter"/>
              </a:rPr>
              <a:t>所示。请注意，为了保证安全性，必须限制在密钥服务器端针对一个特定调用 </a:t>
            </a:r>
            <a:r>
              <a:rPr lang="en-US" altLang="zh-CN" b="0" i="0" dirty="0">
                <a:effectLst/>
                <a:latin typeface="Inter"/>
              </a:rPr>
              <a:t>IBOPRF </a:t>
            </a:r>
            <a:r>
              <a:rPr lang="zh-CN" altLang="en-US" b="0" i="0" dirty="0">
                <a:effectLst/>
                <a:latin typeface="Inter"/>
              </a:rPr>
              <a:t>服务的次数。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dirty="0"/>
              <a:t>图</a:t>
            </a:r>
            <a:r>
              <a:rPr lang="en-US" altLang="zh-CN" dirty="0"/>
              <a:t>7:Take</a:t>
            </a:r>
            <a:r>
              <a:rPr lang="zh-CN" altLang="en-US" dirty="0"/>
              <a:t>过程。客户端通过密钥服务器导出的密码</a:t>
            </a:r>
            <a:r>
              <a:rPr lang="en-US" altLang="zh-CN" dirty="0" err="1"/>
              <a:t>pwd</a:t>
            </a:r>
            <a:r>
              <a:rPr lang="zh-CN" altLang="en-US" dirty="0"/>
              <a:t>登录数据服务器，重构</a:t>
            </a:r>
            <a:r>
              <a:rPr lang="en-US" altLang="zh-CN" dirty="0"/>
              <a:t>App</a:t>
            </a:r>
            <a:r>
              <a:rPr lang="zh-CN" altLang="en-US" dirty="0"/>
              <a:t>登录密码</a:t>
            </a:r>
            <a:r>
              <a:rPr lang="en-US" altLang="zh-CN" dirty="0"/>
              <a:t>t</a:t>
            </a:r>
            <a:r>
              <a:rPr lang="zh-CN" altLang="en-US" dirty="0"/>
              <a:t>和认证加密密钥</a:t>
            </a:r>
            <a:r>
              <a:rPr lang="en-US" altLang="zh-CN" dirty="0"/>
              <a:t>ki</a:t>
            </a:r>
            <a:r>
              <a:rPr lang="zh-CN" altLang="en-US" dirty="0"/>
              <a:t>和</a:t>
            </a:r>
            <a:r>
              <a:rPr lang="en-US" altLang="zh-CN" dirty="0"/>
              <a:t>k2</a:t>
            </a:r>
            <a:r>
              <a:rPr lang="zh-CN" altLang="en-US" dirty="0"/>
              <a:t>。然后，客户端登录</a:t>
            </a:r>
            <a:r>
              <a:rPr lang="en-US" altLang="zh-CN" dirty="0"/>
              <a:t>App</a:t>
            </a:r>
            <a:r>
              <a:rPr lang="zh-CN" altLang="en-US" dirty="0"/>
              <a:t>并使用</a:t>
            </a:r>
            <a:r>
              <a:rPr lang="en-US" altLang="zh-CN" dirty="0"/>
              <a:t>t</a:t>
            </a:r>
            <a:r>
              <a:rPr lang="zh-CN" altLang="en-US" dirty="0"/>
              <a:t>向密钥服务器验证自己，从密钥服务器检索主密钥</a:t>
            </a:r>
            <a:r>
              <a:rPr lang="en-US" altLang="zh-CN" dirty="0" err="1"/>
              <a:t>ct</a:t>
            </a:r>
            <a:r>
              <a:rPr lang="zh-CN" altLang="en-US" dirty="0"/>
              <a:t>的密文和相应的标签</a:t>
            </a:r>
            <a:r>
              <a:rPr lang="en-US" altLang="zh-CN" dirty="0" err="1"/>
              <a:t>tao</a:t>
            </a:r>
            <a:r>
              <a:rPr lang="zh-CN" altLang="en-US" dirty="0"/>
              <a:t>，然后解密。标签</a:t>
            </a:r>
            <a:r>
              <a:rPr lang="en-US" altLang="zh-CN" dirty="0" err="1"/>
              <a:t>tao</a:t>
            </a:r>
            <a:r>
              <a:rPr lang="zh-CN" altLang="en-US" dirty="0"/>
              <a:t>用于验证密文</a:t>
            </a:r>
            <a:r>
              <a:rPr lang="en-US" altLang="zh-CN" dirty="0" err="1"/>
              <a:t>ct</a:t>
            </a:r>
            <a:r>
              <a:rPr lang="zh-CN" altLang="en-US" dirty="0"/>
              <a:t>的完整性。装箱的消息意味着它们受到</a:t>
            </a:r>
            <a:r>
              <a:rPr lang="en-US" altLang="zh-CN" dirty="0"/>
              <a:t>TLS</a:t>
            </a:r>
            <a:r>
              <a:rPr lang="zh-CN" altLang="en-US" dirty="0"/>
              <a:t>通道的保护。</a:t>
            </a:r>
            <a:r>
              <a:rPr lang="en-US" altLang="zh-CN" dirty="0"/>
              <a:t>Bid</a:t>
            </a:r>
            <a:r>
              <a:rPr lang="zh-CN" altLang="en-US" dirty="0"/>
              <a:t>、</a:t>
            </a:r>
            <a:r>
              <a:rPr lang="en-US" altLang="zh-CN" dirty="0"/>
              <a:t>Yia</a:t>
            </a:r>
            <a:r>
              <a:rPr lang="zh-CN" altLang="en-US" dirty="0"/>
              <a:t>分别是存储在数据服务器和密钥服务器上的登录存根，用于登录验证。</a:t>
            </a:r>
            <a:r>
              <a:rPr lang="en-US" altLang="zh-CN" dirty="0"/>
              <a:t>H1</a:t>
            </a:r>
            <a:r>
              <a:rPr lang="zh-CN" altLang="en-US" dirty="0"/>
              <a:t>， </a:t>
            </a:r>
            <a:r>
              <a:rPr lang="en-US" altLang="zh-CN" dirty="0"/>
              <a:t>H2</a:t>
            </a:r>
            <a:r>
              <a:rPr lang="zh-CN" altLang="en-US" dirty="0"/>
              <a:t>和</a:t>
            </a:r>
            <a:r>
              <a:rPr lang="en-US" altLang="zh-CN" dirty="0"/>
              <a:t>H3</a:t>
            </a:r>
            <a:r>
              <a:rPr lang="zh-CN" altLang="en-US" dirty="0"/>
              <a:t>是在第</a:t>
            </a:r>
            <a:r>
              <a:rPr lang="en-US" altLang="zh-CN" dirty="0"/>
              <a:t>3</a:t>
            </a:r>
            <a:r>
              <a:rPr lang="zh-CN" altLang="en-US" dirty="0"/>
              <a:t>节定义的</a:t>
            </a:r>
            <a:r>
              <a:rPr lang="en-US" altLang="zh-CN" dirty="0"/>
              <a:t>2HashDH IBOPRF</a:t>
            </a:r>
            <a:r>
              <a:rPr lang="zh-CN" altLang="en-US" dirty="0"/>
              <a:t>中使用的哈希函数。安全性要求在密钥服务器端为一个特定</a:t>
            </a:r>
            <a:r>
              <a:rPr lang="en-US" altLang="zh-CN" dirty="0"/>
              <a:t>id</a:t>
            </a:r>
            <a:r>
              <a:rPr lang="zh-CN" altLang="en-US" dirty="0"/>
              <a:t>调用</a:t>
            </a:r>
            <a:r>
              <a:rPr lang="en-US" altLang="zh-CN" dirty="0"/>
              <a:t>IBOPRF</a:t>
            </a:r>
            <a:r>
              <a:rPr lang="zh-CN" altLang="en-US" dirty="0"/>
              <a:t>服务的次数是有限制的。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399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A4C6-B671-9DF6-71F4-CBEC99DD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CBA461-3B6C-0AE2-7B22-3EDA37ABD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546D77-8BB3-B48C-9962-415699854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763C9B-EFD9-3FCA-A91A-AEFC85F38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401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ABCC8-1344-E143-2850-91162F79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A8E0DE-5D0B-6F80-3BEF-029429785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9EC3CC-4A6A-EC1A-2474-C28CDBD74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1A736E-97CE-5971-7EDF-102FBE511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126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遵循建构主义：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171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E4FD-FB8D-2542-F79A-8BF7C8F4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067829-CD6F-D21F-85B4-77D504AB7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293714-2AB2-FFCE-4E54-F722ADA4D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遵循建构主义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391356-FC6C-3B02-DB05-EE80C9361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95CD-EE94-4E6B-9DA5-88873CF165E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575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19145-EE59-41C8-A557-A79117620442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6C34-1E89-4092-B853-144DCAAF3BBE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E1129-9A0A-4C86-9C91-2E0CED4AE967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F7C2E-37DC-48C1-BF3D-ABA2942275E6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9976-EF64-4711-8A37-63371FC0E9DA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E1630-F6CA-4BE6-91B3-248712ACF045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4416-D5AA-4B45-886D-1601997E3F30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CE5F-5158-4FCF-A687-E44FA8E96689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37EA-5F6A-455B-8249-1FE588C03229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4A73-CFFA-4960-A968-7C1915F20252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4C35-4649-455D-8D1C-1C58C1422EF0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BCAF-66A8-423F-B6D9-6BB40214CC04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72DB4-2178-42EB-B073-FBB7842059BC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18F65-0158-490E-B44E-B2F2151A7C4F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8EA4-8A9B-4594-9BEC-DA5D5AA07210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964D-2093-4672-9FEA-E8614B02597D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66EF8-9F83-45DF-9C2A-E5786C44B92D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1110577-79D6-406C-B261-617B21E11D41}" type="datetime1">
              <a:rPr lang="en-US" altLang="zh-CN" smtClean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0.png"/><Relationship Id="rId5" Type="http://schemas.openxmlformats.org/officeDocument/2006/relationships/customXml" Target="../ink/ink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customXml" Target="../ink/ink2.xml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customXml" Target="../ink/ink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80.png"/><Relationship Id="rId4" Type="http://schemas.openxmlformats.org/officeDocument/2006/relationships/customXml" Target="../ink/ink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23.jpg"/><Relationship Id="rId7" Type="http://schemas.openxmlformats.org/officeDocument/2006/relationships/image" Target="../media/image2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25.png"/><Relationship Id="rId5" Type="http://schemas.openxmlformats.org/officeDocument/2006/relationships/image" Target="../media/image180.png"/><Relationship Id="rId10" Type="http://schemas.openxmlformats.org/officeDocument/2006/relationships/image" Target="../media/image24.jpg"/><Relationship Id="rId4" Type="http://schemas.openxmlformats.org/officeDocument/2006/relationships/customXml" Target="../ink/ink6.xml"/><Relationship Id="rId9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customXml" Target="../ink/ink8.xml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customXml" Target="../ink/ink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customXml" Target="../ink/ink11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customXml" Target="../ink/ink13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14.xml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0.png"/><Relationship Id="rId4" Type="http://schemas.openxmlformats.org/officeDocument/2006/relationships/customXml" Target="../ink/ink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22AE1-0948-4A4B-82DF-61E9EC0D6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874" y="1300785"/>
            <a:ext cx="9344252" cy="250921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End-to-Same-End Encryption: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F26970-B036-C115-EA53-BB70086CF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Moti Yung</a:t>
            </a: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Joint with Long Chen, Yanan Li, Qiang Tang </a:t>
            </a: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Security 2022 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9020CC-9A02-F9E5-2DBF-AD74BD51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D13330-24C8-4C5A-FAB2-9A8BAA29B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453" y="2888618"/>
            <a:ext cx="12726906" cy="9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3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BE0F7-0CB9-1902-7B8F-000DFCC9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  <a:t>Cloud is Pervasive </a:t>
            </a:r>
            <a:br>
              <a:rPr lang="zh-CN" altLang="zh-CN" sz="1800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453DB9D-6630-443C-F1BD-23C8A600972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2" y="1103796"/>
            <a:ext cx="12196467" cy="5754203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3436CD-140B-FBC6-5BD1-89F2355B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545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49050-43C2-BC2F-BA35-02B1A665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E19C4-6458-8887-1DEF-0CECE50B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  <a:t>Data breach in the cloud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E4BB157-6D0B-E1A5-A7BD-1E61F308580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449011" y="1065128"/>
            <a:ext cx="9293978" cy="43713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A5AC4D7-6C2D-CB05-9A10-A240D5AAB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989" y="5675003"/>
            <a:ext cx="10964406" cy="826606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1FC9467-B73F-36BF-29F5-6BC9F014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1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7A9F-D7A1-560E-2E82-FA99A58A1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A727A-53DF-3933-9EB3-1980F319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  <a:t>Attempts for Secure Cloud Storage</a:t>
            </a:r>
            <a:br>
              <a:rPr lang="zh-CN" altLang="zh-CN" sz="1800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65CC5C-D312-2C9B-CE7E-6F9DD1A7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67AC50-0A9B-8A21-C903-04C24275A4EB}"/>
              </a:ext>
            </a:extLst>
          </p:cNvPr>
          <p:cNvSpPr txBox="1"/>
          <p:nvPr/>
        </p:nvSpPr>
        <p:spPr>
          <a:xfrm>
            <a:off x="810837" y="1664632"/>
            <a:ext cx="6881376" cy="440120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1 </a:t>
            </a:r>
            <a:r>
              <a:rPr lang="zh-CN" altLang="en-US" sz="2800" dirty="0">
                <a:solidFill>
                  <a:schemeClr val="bg1"/>
                </a:solidFill>
              </a:rPr>
              <a:t>Portability: allow users change device</a:t>
            </a:r>
            <a:endParaRPr lang="en-US" altLang="zh-CN" sz="2800" dirty="0">
              <a:solidFill>
                <a:schemeClr val="bg1"/>
              </a:solidFill>
            </a:endParaRPr>
          </a:p>
          <a:p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chemeClr val="bg1"/>
                </a:solidFill>
              </a:rPr>
              <a:t>2 </a:t>
            </a:r>
            <a:r>
              <a:rPr lang="zh-CN" altLang="en-US" sz="2800" dirty="0">
                <a:solidFill>
                  <a:schemeClr val="bg1"/>
                </a:solidFill>
              </a:rPr>
              <a:t>Cloud-blindness: “end to same end”</a:t>
            </a:r>
            <a:endParaRPr lang="en-US" altLang="zh-CN" sz="2800" dirty="0">
              <a:solidFill>
                <a:schemeClr val="bg1"/>
              </a:solidFill>
            </a:endParaRPr>
          </a:p>
          <a:p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chemeClr val="bg1"/>
                </a:solidFill>
              </a:rPr>
              <a:t>3 </a:t>
            </a:r>
            <a:r>
              <a:rPr lang="zh-CN" altLang="en-US" sz="2800" dirty="0">
                <a:solidFill>
                  <a:schemeClr val="bg1"/>
                </a:solidFill>
              </a:rPr>
              <a:t>Deployability on plain cloud storage:login, basic data storage/retrieve functions</a:t>
            </a:r>
            <a:endParaRPr lang="en-US" altLang="zh-CN" sz="2800" dirty="0">
              <a:solidFill>
                <a:schemeClr val="bg1"/>
              </a:solidFill>
            </a:endParaRPr>
          </a:p>
          <a:p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chemeClr val="bg1"/>
                </a:solidFill>
              </a:rPr>
              <a:t>4 </a:t>
            </a:r>
            <a:r>
              <a:rPr lang="zh-CN" altLang="en-US" sz="2800" dirty="0">
                <a:solidFill>
                  <a:schemeClr val="bg1"/>
                </a:solidFill>
              </a:rPr>
              <a:t>Client authentication to a plain storage server:only need one password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CBCB92-5240-05AF-A990-4EB5900AC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062" y="694591"/>
            <a:ext cx="586821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F95B-BC73-091E-1850-C374F4A6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CED60-E740-7031-0BF8-45C3E22A0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  <a:t>Attempts for Secure Cloud Storage</a:t>
            </a:r>
            <a:br>
              <a:rPr lang="zh-CN" altLang="zh-CN" sz="1800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A20B898-04D9-A7EA-41C0-740AEA5115B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47" y="1236420"/>
            <a:ext cx="11283796" cy="49438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0645AD-DB1F-6E81-86EB-A990ECB7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0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4DE6-68EC-E16D-FB3D-81D22199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A89F4-DB79-325F-4851-AD1EB01E6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  <a:t>Basic requirements of cloud storage</a:t>
            </a:r>
            <a:br>
              <a:rPr lang="zh-CN" altLang="zh-CN" sz="1800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1D4E36-517A-5AF2-C17B-3EDDD4E91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65"/>
          <a:stretch/>
        </p:blipFill>
        <p:spPr>
          <a:xfrm>
            <a:off x="1173794" y="1853292"/>
            <a:ext cx="9469804" cy="4131129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A5C5ABD-A873-8867-59EC-653A9202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490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A749-03BE-149D-BB3D-4307602B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F38FB-C61D-B63F-4490-39BBC344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  <a:t>Basic requirements of cloud storage</a:t>
            </a:r>
            <a:br>
              <a:rPr lang="zh-CN" altLang="zh-CN" sz="1800" dirty="0">
                <a:effectLst/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0AC9A6-D7EE-C26F-1177-34DBE0165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69"/>
          <a:stretch/>
        </p:blipFill>
        <p:spPr bwMode="auto">
          <a:xfrm>
            <a:off x="1279928" y="1879471"/>
            <a:ext cx="9268329" cy="41398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80FEC2-721D-3AF8-E291-84EC5C07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29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A4973-89E4-4950-1531-7C54B778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Break The Box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3B2D5-2F37-136C-A3C3-F46C80CA4F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cap="none" dirty="0"/>
              <a:t>The difficulty mainly comes from the setting </a:t>
            </a:r>
            <a:r>
              <a:rPr lang="en-US" altLang="zh-CN" cap="none" dirty="0">
                <a:highlight>
                  <a:srgbClr val="00FF00"/>
                </a:highlight>
              </a:rPr>
              <a:t>one client, one cloud</a:t>
            </a:r>
            <a:endParaRPr lang="zh-CN" altLang="en-US" cap="none" dirty="0">
              <a:highlight>
                <a:srgbClr val="00FF00"/>
              </a:highlight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FD5FF6-C80A-B88C-DE80-235B7FB44F0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cap="none" dirty="0"/>
              <a:t>There are also some </a:t>
            </a:r>
            <a:r>
              <a:rPr lang="en-US" altLang="zh-CN" cap="none" dirty="0">
                <a:highlight>
                  <a:srgbClr val="00FF00"/>
                </a:highlight>
              </a:rPr>
              <a:t>other servers</a:t>
            </a:r>
            <a:r>
              <a:rPr lang="en-US" altLang="zh-CN" cap="none" dirty="0"/>
              <a:t>, say, the App server</a:t>
            </a:r>
            <a:endParaRPr lang="zh-CN" altLang="en-US" cap="none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32514D-426A-4F0C-56AC-D5B1AE19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61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32F2-54C4-58F7-410C-AD9FA476D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33F45-D6C9-4845-90F8-D7ACC895F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State-of-the-art with Two Server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39B64F-0410-117A-6A7D-62C5185AAB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3145" y="2367092"/>
            <a:ext cx="6154455" cy="3424107"/>
          </a:xfrm>
        </p:spPr>
        <p:txBody>
          <a:bodyPr/>
          <a:lstStyle/>
          <a:p>
            <a:r>
              <a:rPr lang="en-US" altLang="zh-CN" b="1" cap="none" dirty="0"/>
              <a:t>General MPC, PPSS: </a:t>
            </a:r>
            <a:r>
              <a:rPr lang="en-US" altLang="zh-CN" cap="none" dirty="0"/>
              <a:t>incompatible with plain cloud storage which only </a:t>
            </a:r>
            <a:r>
              <a:rPr lang="en-US" altLang="zh-CN" cap="none" dirty="0">
                <a:highlight>
                  <a:srgbClr val="00FF00"/>
                </a:highlight>
              </a:rPr>
              <a:t>supports login, retrieve, </a:t>
            </a:r>
            <a:r>
              <a:rPr lang="en-US" altLang="zh-CN" cap="none" dirty="0" err="1">
                <a:highlight>
                  <a:srgbClr val="00FF00"/>
                </a:highlight>
              </a:rPr>
              <a:t>deposte</a:t>
            </a:r>
            <a:r>
              <a:rPr lang="en-US" altLang="zh-CN" cap="none" dirty="0" err="1"/>
              <a:t>.g</a:t>
            </a:r>
            <a:r>
              <a:rPr lang="en-US" altLang="zh-CN" cap="none" dirty="0"/>
              <a:t>., Dropbox, Google Drive, etc.</a:t>
            </a:r>
          </a:p>
          <a:p>
            <a:r>
              <a:rPr lang="en-US" altLang="zh-CN" b="1" cap="none" dirty="0"/>
              <a:t>Drawbacks:</a:t>
            </a:r>
          </a:p>
          <a:p>
            <a:r>
              <a:rPr lang="en-US" altLang="zh-CN" b="1" cap="none" dirty="0"/>
              <a:t> </a:t>
            </a:r>
            <a:r>
              <a:rPr lang="en-US" altLang="zh-CN" cap="none" dirty="0"/>
              <a:t>Dramatically more expensive if running VMs </a:t>
            </a:r>
          </a:p>
          <a:p>
            <a:r>
              <a:rPr lang="en-US" altLang="zh-CN" cap="none" dirty="0"/>
              <a:t>Hard to migrate data to other clouds</a:t>
            </a:r>
            <a:endParaRPr lang="zh-CN" altLang="en-US" cap="none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8192DC-03B5-BEAA-62AE-56456C6D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20E229-404E-565D-1025-49EE0910097C}"/>
              </a:ext>
            </a:extLst>
          </p:cNvPr>
          <p:cNvSpPr txBox="1"/>
          <p:nvPr/>
        </p:nvSpPr>
        <p:spPr>
          <a:xfrm>
            <a:off x="3010943" y="5357951"/>
            <a:ext cx="60140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highlight>
                  <a:srgbClr val="00FF00"/>
                </a:highlight>
              </a:rPr>
              <a:t>Secure and usable cloud storage, one of the most basic questions, still lacks a viable solution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64D4974-63D5-6687-6C68-2DFF1689CCE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t="18904" r="66771" b="22418"/>
          <a:stretch/>
        </p:blipFill>
        <p:spPr bwMode="auto">
          <a:xfrm>
            <a:off x="913775" y="2319985"/>
            <a:ext cx="3168650" cy="29326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1877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1FE3-E075-505C-7923-325FA79F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DF85F-5EC0-98FA-9E21-1150E373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Our goals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C6DC6F-E79F-B596-62F2-5FEDD202C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45ED9C-3006-7263-1229-B01B0B3A1B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87"/>
          <a:stretch/>
        </p:blipFill>
        <p:spPr bwMode="auto">
          <a:xfrm>
            <a:off x="1138883" y="1520411"/>
            <a:ext cx="9914233" cy="427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4416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FE9A-D685-9C95-A4FD-078EF253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A32C4-015F-CD5E-EAB5-87C78893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High-level overview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C40A10-3070-F5BA-A389-2B9D9AFC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19CA34-5ACE-85E3-D029-9536FF336B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53"/>
          <a:stretch/>
        </p:blipFill>
        <p:spPr bwMode="auto">
          <a:xfrm>
            <a:off x="819511" y="1189972"/>
            <a:ext cx="10347101" cy="3864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07C1146-E844-CF36-BECA-54BC0B8B5DF6}"/>
              </a:ext>
            </a:extLst>
          </p:cNvPr>
          <p:cNvSpPr txBox="1"/>
          <p:nvPr/>
        </p:nvSpPr>
        <p:spPr>
          <a:xfrm>
            <a:off x="192727" y="5188558"/>
            <a:ext cx="11600668" cy="560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en-US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Security: "semantically-secure” with one corrupted server; best-possible security even if two servers collude</a:t>
            </a:r>
            <a:endParaRPr lang="zh-CN" altLang="zh-CN" sz="1800" dirty="0">
              <a:effectLst/>
              <a:latin typeface="Arial" panose="020B0604020202020204" pitchFamily="34" charset="0"/>
              <a:ea typeface="仿宋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89AA5B-D373-69A5-7484-91E01F570F11}"/>
              </a:ext>
            </a:extLst>
          </p:cNvPr>
          <p:cNvSpPr txBox="1"/>
          <p:nvPr/>
        </p:nvSpPr>
        <p:spPr>
          <a:xfrm>
            <a:off x="192727" y="5668028"/>
            <a:ext cx="6097044" cy="560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en-US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Retrieve: authenticate - then – reconstruct</a:t>
            </a:r>
            <a:endParaRPr lang="zh-CN" altLang="zh-CN" sz="1800" dirty="0">
              <a:effectLst/>
              <a:latin typeface="Arial" panose="020B0604020202020204" pitchFamily="34" charset="0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043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316F-2569-F361-E7CC-EF6BA734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D7C9D-5BAE-2890-E475-C3506992D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Our solution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C0A23A-FED1-B77D-FFCF-0EB77741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D3049C-98CC-1EA4-4E4D-C62EBD7FFF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67"/>
          <a:stretch/>
        </p:blipFill>
        <p:spPr bwMode="auto">
          <a:xfrm>
            <a:off x="1455388" y="1489436"/>
            <a:ext cx="9075348" cy="43038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81476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B540-ECDA-6C53-A278-D3796A59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4BFAE-CBB2-AE38-4EE8-6A1D4A6E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Our solution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F93652-1509-2113-DB1E-73B6ED60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97A080-77AF-E25D-B5BA-65C975F1A7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45"/>
          <a:stretch/>
        </p:blipFill>
        <p:spPr bwMode="auto">
          <a:xfrm>
            <a:off x="1566716" y="1244517"/>
            <a:ext cx="9058568" cy="43689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12679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76E2-1087-7D71-3506-F863C680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4C51B-DAD8-8EB4-9A25-6F894AFB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Efficiency comparison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5FA405-4FCE-A319-C51B-1F9C7A76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F1EA7E8-74A2-0DDF-386A-A72812BD301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914400" y="2712754"/>
            <a:ext cx="5105400" cy="2732655"/>
          </a:xfrm>
          <a:prstGeom prst="rect">
            <a:avLst/>
          </a:prstGeom>
        </p:spPr>
      </p:pic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36C98A9-1DE9-37D5-9263-D8A976926F8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6172200" y="2699881"/>
            <a:ext cx="5105400" cy="2758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8237EF7-B7DA-DB93-5872-976A16B40D7E}"/>
              </a:ext>
            </a:extLst>
          </p:cNvPr>
          <p:cNvSpPr txBox="1"/>
          <p:nvPr/>
        </p:nvSpPr>
        <p:spPr>
          <a:xfrm>
            <a:off x="3047478" y="1921557"/>
            <a:ext cx="6097044" cy="560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en-US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Optimized secure storage brings negligible overhead!</a:t>
            </a:r>
            <a:endParaRPr lang="zh-CN" altLang="zh-CN" sz="1800" dirty="0">
              <a:effectLst/>
              <a:latin typeface="Arial" panose="020B0604020202020204" pitchFamily="34" charset="0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D116968-DD97-70A5-99D4-6DBD876794B4}"/>
                  </a:ext>
                </a:extLst>
              </p14:cNvPr>
              <p14:cNvContentPartPr/>
              <p14:nvPr/>
            </p14:nvContentPartPr>
            <p14:xfrm>
              <a:off x="3332898" y="5687193"/>
              <a:ext cx="360" cy="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D116968-DD97-70A5-99D4-6DBD876794B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4258" y="567819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17BEC266-A967-44EF-6AE1-332E900C06B2}"/>
              </a:ext>
            </a:extLst>
          </p:cNvPr>
          <p:cNvSpPr txBox="1"/>
          <p:nvPr/>
        </p:nvSpPr>
        <p:spPr>
          <a:xfrm>
            <a:off x="2560674" y="5650160"/>
            <a:ext cx="7223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TLS handshake and the network latency dominate the IBOPRF cost.</a:t>
            </a:r>
          </a:p>
        </p:txBody>
      </p:sp>
    </p:spTree>
    <p:extLst>
      <p:ext uri="{BB962C8B-B14F-4D97-AF65-F5344CB8AC3E}">
        <p14:creationId xmlns:p14="http://schemas.microsoft.com/office/powerpoint/2010/main" val="209358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62A1-7157-FDE4-2170-888879B5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3E70A-7A9A-3C92-54BC-6CA2462E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37" y="0"/>
            <a:ext cx="10364451" cy="1596177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PBCS system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0A91B2-0F76-603B-1ACF-CAE6C3AF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F5D9CF-B2B0-775D-1D2A-C4DD3E679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6" y="1183971"/>
            <a:ext cx="4467812" cy="233395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9879734-B1AC-E02C-887D-23CEC9E015EC}"/>
              </a:ext>
            </a:extLst>
          </p:cNvPr>
          <p:cNvSpPr txBox="1"/>
          <p:nvPr/>
        </p:nvSpPr>
        <p:spPr>
          <a:xfrm>
            <a:off x="5091254" y="1728685"/>
            <a:ext cx="60970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3 parties: </a:t>
            </a:r>
          </a:p>
          <a:p>
            <a:r>
              <a:rPr lang="en-US" altLang="zh-CN" dirty="0"/>
              <a:t>a client </a:t>
            </a:r>
            <a:r>
              <a:rPr lang="en-US" altLang="zh-CN" dirty="0">
                <a:highlight>
                  <a:srgbClr val="00FF00"/>
                </a:highlight>
              </a:rPr>
              <a:t>U</a:t>
            </a:r>
            <a:r>
              <a:rPr lang="en-US" altLang="zh-CN" dirty="0"/>
              <a:t> ,deposits/retrieves data,</a:t>
            </a:r>
          </a:p>
          <a:p>
            <a:r>
              <a:rPr lang="en-US" altLang="zh-CN" dirty="0"/>
              <a:t>a data server </a:t>
            </a:r>
            <a:r>
              <a:rPr lang="en-US" altLang="zh-CN" dirty="0">
                <a:highlight>
                  <a:srgbClr val="00FF00"/>
                </a:highlight>
              </a:rPr>
              <a:t>D</a:t>
            </a:r>
            <a:r>
              <a:rPr lang="en-US" altLang="zh-CN" dirty="0"/>
              <a:t> (cloud storage server), stores the encrypted data, </a:t>
            </a:r>
          </a:p>
          <a:p>
            <a:r>
              <a:rPr lang="en-US" altLang="zh-CN" dirty="0"/>
              <a:t>a key server </a:t>
            </a:r>
            <a:r>
              <a:rPr lang="en-US" altLang="zh-CN" dirty="0">
                <a:highlight>
                  <a:srgbClr val="00FF00"/>
                </a:highlight>
              </a:rPr>
              <a:t>K </a:t>
            </a:r>
            <a:r>
              <a:rPr lang="en-US" altLang="zh-CN" dirty="0"/>
              <a:t>(administrative server), offers key management services.</a:t>
            </a:r>
          </a:p>
          <a:p>
            <a:endParaRPr lang="en-US" altLang="zh-CN" dirty="0"/>
          </a:p>
          <a:p>
            <a:r>
              <a:rPr lang="en-US" altLang="zh-CN" dirty="0"/>
              <a:t>2 parts:</a:t>
            </a:r>
          </a:p>
          <a:p>
            <a:r>
              <a:rPr lang="en-US" altLang="zh-CN" dirty="0"/>
              <a:t>the key encapsulation mechanism (KEM) part, lets a client </a:t>
            </a:r>
            <a:r>
              <a:rPr lang="en-US" altLang="zh-CN" dirty="0" err="1">
                <a:highlight>
                  <a:srgbClr val="00FF00"/>
                </a:highlight>
              </a:rPr>
              <a:t>distributively</a:t>
            </a:r>
            <a:r>
              <a:rPr lang="en-US" altLang="zh-CN" dirty="0">
                <a:highlight>
                  <a:srgbClr val="00FF00"/>
                </a:highlight>
              </a:rPr>
              <a:t> generate and store a strong master key </a:t>
            </a:r>
            <a:r>
              <a:rPr lang="en-US" altLang="zh-CN" dirty="0" err="1"/>
              <a:t>mk</a:t>
            </a:r>
            <a:r>
              <a:rPr lang="en-US" altLang="zh-CN" dirty="0"/>
              <a:t>; </a:t>
            </a:r>
          </a:p>
          <a:p>
            <a:r>
              <a:rPr lang="en-US" altLang="zh-CN" dirty="0"/>
              <a:t>the data encapsulation mechanism (DEM) part </a:t>
            </a:r>
            <a:r>
              <a:rPr lang="en-US" altLang="zh-CN" dirty="0">
                <a:highlight>
                  <a:srgbClr val="00FF00"/>
                </a:highlight>
              </a:rPr>
              <a:t>to encrypt the actual content with mk</a:t>
            </a:r>
            <a:r>
              <a:rPr lang="en-US" altLang="zh-CN" dirty="0"/>
              <a:t>.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2F9FE6-AF42-8C24-A5AB-0319D9F178F0}"/>
              </a:ext>
            </a:extLst>
          </p:cNvPr>
          <p:cNvSpPr txBox="1"/>
          <p:nvPr/>
        </p:nvSpPr>
        <p:spPr>
          <a:xfrm>
            <a:off x="5078244" y="1068968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altLang="zh-CN" b="0" i="0" dirty="0">
                <a:solidFill>
                  <a:srgbClr val="1C1F23"/>
                </a:solidFill>
                <a:effectLst/>
                <a:latin typeface="Inter"/>
              </a:rPr>
              <a:t>portable Blind Cloud Storage system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4F8E90-4E60-4A0F-EE71-11CE82450C59}"/>
              </a:ext>
            </a:extLst>
          </p:cNvPr>
          <p:cNvSpPr txBox="1"/>
          <p:nvPr/>
        </p:nvSpPr>
        <p:spPr>
          <a:xfrm>
            <a:off x="308046" y="3852343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confidentiality and integrity depends on </a:t>
            </a:r>
            <a:r>
              <a:rPr lang="en-US" altLang="zh-CN" dirty="0" err="1"/>
              <a:t>mk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8890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036A4-EC5E-6BBC-4CD2-E7499FD5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1DD513-44CA-1515-51E3-AB943C2D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9540E4-A9A0-F519-E827-9E6CBE688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6" y="1183971"/>
            <a:ext cx="4467812" cy="23339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21E5655-78F9-40C3-FD8B-C29FB4944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858" y="2660656"/>
            <a:ext cx="6727837" cy="315655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D5C5A84-FDE4-2419-0ACB-2225B65079B1}"/>
              </a:ext>
            </a:extLst>
          </p:cNvPr>
          <p:cNvSpPr txBox="1"/>
          <p:nvPr/>
        </p:nvSpPr>
        <p:spPr>
          <a:xfrm>
            <a:off x="2700965" y="605393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Syntax of the KEM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601279-3DB5-1937-6C89-A77C141C90FF}"/>
              </a:ext>
            </a:extLst>
          </p:cNvPr>
          <p:cNvSpPr txBox="1"/>
          <p:nvPr/>
        </p:nvSpPr>
        <p:spPr>
          <a:xfrm>
            <a:off x="4775858" y="1076618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KEM of PBCS consists of </a:t>
            </a:r>
            <a:r>
              <a:rPr lang="en-US" altLang="zh-CN" dirty="0">
                <a:solidFill>
                  <a:srgbClr val="1C1F23"/>
                </a:solidFill>
                <a:latin typeface="Inter"/>
              </a:rPr>
              <a:t>3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 procedures: Register, Give and Take.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595441-94EE-3C86-BC51-BD5A8C47914F}"/>
              </a:ext>
            </a:extLst>
          </p:cNvPr>
          <p:cNvSpPr txBox="1"/>
          <p:nvPr/>
        </p:nvSpPr>
        <p:spPr>
          <a:xfrm>
            <a:off x="4864796" y="2357384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Register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6044C86-BAD8-7087-3B0C-8AF9838CF97B}"/>
              </a:ext>
            </a:extLst>
          </p:cNvPr>
          <p:cNvSpPr txBox="1"/>
          <p:nvPr/>
        </p:nvSpPr>
        <p:spPr>
          <a:xfrm>
            <a:off x="226979" y="377727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Recall</a:t>
            </a:r>
          </a:p>
          <a:p>
            <a:r>
              <a:rPr lang="en-US" altLang="zh-CN" dirty="0"/>
              <a:t>Login scheme = (</a:t>
            </a:r>
            <a:r>
              <a:rPr lang="en-US" altLang="zh-CN" dirty="0" err="1"/>
              <a:t>AuthReg</a:t>
            </a:r>
            <a:r>
              <a:rPr lang="en-US" altLang="zh-CN" dirty="0"/>
              <a:t>, login)</a:t>
            </a:r>
          </a:p>
          <a:p>
            <a:r>
              <a:rPr lang="en-US" altLang="zh-CN" dirty="0"/>
              <a:t>IBOPRF : </a:t>
            </a:r>
            <a:r>
              <a:rPr lang="en-US" altLang="zh-CN" dirty="0" err="1"/>
              <a:t>pwd</a:t>
            </a:r>
            <a:r>
              <a:rPr lang="en-US" altLang="zh-CN" dirty="0"/>
              <a:t> = H3(pp, H1^(H2(</a:t>
            </a:r>
            <a:r>
              <a:rPr lang="en-US" altLang="zh-CN" dirty="0" err="1"/>
              <a:t>msk</a:t>
            </a:r>
            <a:r>
              <a:rPr lang="en-US" altLang="zh-CN" dirty="0"/>
              <a:t>, id)))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A52939DD-6DA6-7EBD-CD11-6830BC58889C}"/>
                  </a:ext>
                </a:extLst>
              </p14:cNvPr>
              <p14:cNvContentPartPr/>
              <p14:nvPr/>
            </p14:nvContentPartPr>
            <p14:xfrm>
              <a:off x="6037578" y="5635353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49EA8456-4922-7C3E-668E-FDB0C488BB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8578" y="56263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39D419D1-F7DC-B2F2-B1E2-71C4440F2B28}"/>
                  </a:ext>
                </a:extLst>
              </p14:cNvPr>
              <p14:cNvContentPartPr/>
              <p14:nvPr/>
            </p14:nvContentPartPr>
            <p14:xfrm>
              <a:off x="10784538" y="4583793"/>
              <a:ext cx="142560" cy="2700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30AD53EA-6243-A54F-7257-B8586D34DA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75898" y="4574793"/>
                <a:ext cx="1602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770DAA06-78F3-60F7-E93F-391A0907A2F5}"/>
                  </a:ext>
                </a:extLst>
              </p14:cNvPr>
              <p14:cNvContentPartPr/>
              <p14:nvPr/>
            </p14:nvContentPartPr>
            <p14:xfrm>
              <a:off x="4954338" y="5669193"/>
              <a:ext cx="191520" cy="540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4E727F97-A35B-EC53-BAB7-04EAED6E21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45698" y="5660553"/>
                <a:ext cx="209160" cy="230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06F9277F-EFB9-F88C-4766-B052E13D83D0}"/>
              </a:ext>
            </a:extLst>
          </p:cNvPr>
          <p:cNvSpPr/>
          <p:nvPr/>
        </p:nvSpPr>
        <p:spPr>
          <a:xfrm>
            <a:off x="4954338" y="2945782"/>
            <a:ext cx="3764360" cy="114522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E5C455-514D-DD01-36EF-F42F29E7EADF}"/>
              </a:ext>
            </a:extLst>
          </p:cNvPr>
          <p:cNvSpPr/>
          <p:nvPr/>
        </p:nvSpPr>
        <p:spPr>
          <a:xfrm>
            <a:off x="308045" y="4972434"/>
            <a:ext cx="2463507" cy="43599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IBOPRF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5F73D6-D4C0-A12E-F79C-BA3FB5A46536}"/>
              </a:ext>
            </a:extLst>
          </p:cNvPr>
          <p:cNvSpPr/>
          <p:nvPr/>
        </p:nvSpPr>
        <p:spPr>
          <a:xfrm>
            <a:off x="308044" y="5491811"/>
            <a:ext cx="2463507" cy="435994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/>
                </a:solidFill>
              </a:rPr>
              <a:t>D login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3C23A2-C4CF-1A84-DE64-0B57B08E4DDD}"/>
              </a:ext>
            </a:extLst>
          </p:cNvPr>
          <p:cNvSpPr/>
          <p:nvPr/>
        </p:nvSpPr>
        <p:spPr>
          <a:xfrm>
            <a:off x="7353751" y="3699353"/>
            <a:ext cx="3987643" cy="88444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64A0D77-DB9E-E79A-F70B-21BDC8926482}"/>
              </a:ext>
            </a:extLst>
          </p:cNvPr>
          <p:cNvSpPr/>
          <p:nvPr/>
        </p:nvSpPr>
        <p:spPr>
          <a:xfrm>
            <a:off x="308043" y="6011188"/>
            <a:ext cx="2463507" cy="43599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K login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901119C-C7C0-46F9-0EA9-1CEE372DA0EC}"/>
              </a:ext>
            </a:extLst>
          </p:cNvPr>
          <p:cNvSpPr/>
          <p:nvPr/>
        </p:nvSpPr>
        <p:spPr>
          <a:xfrm>
            <a:off x="4954338" y="4860251"/>
            <a:ext cx="3519449" cy="80894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CFA31A-5438-525F-E420-6FB0710F9B38}"/>
              </a:ext>
            </a:extLst>
          </p:cNvPr>
          <p:cNvSpPr txBox="1"/>
          <p:nvPr/>
        </p:nvSpPr>
        <p:spPr>
          <a:xfrm>
            <a:off x="5425265" y="1896260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C1F23"/>
                </a:solidFill>
                <a:highlight>
                  <a:srgbClr val="00FF00"/>
                </a:highlight>
                <a:latin typeface="Inter"/>
              </a:rPr>
              <a:t>注意，该架构下的</a:t>
            </a:r>
            <a:r>
              <a:rPr lang="en-US" altLang="zh-CN" dirty="0">
                <a:solidFill>
                  <a:srgbClr val="1C1F23"/>
                </a:solidFill>
                <a:highlight>
                  <a:srgbClr val="00FF00"/>
                </a:highlight>
                <a:latin typeface="Inter"/>
              </a:rPr>
              <a:t>PP</a:t>
            </a:r>
            <a:r>
              <a:rPr lang="zh-CN" altLang="en-US" dirty="0">
                <a:solidFill>
                  <a:srgbClr val="1C1F23"/>
                </a:solidFill>
                <a:highlight>
                  <a:srgbClr val="00FF00"/>
                </a:highlight>
                <a:latin typeface="Inter"/>
              </a:rPr>
              <a:t>是用户输入的短密钥</a:t>
            </a:r>
            <a:endParaRPr lang="zh-CN" altLang="en-US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13473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5B9B7-CFB0-52FB-1D14-67D27A0E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BCB5AA-61B7-9FED-A4D7-B2219052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46A1CC-7725-EB88-2DA2-16D3C0B64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6" y="1183971"/>
            <a:ext cx="4467812" cy="23339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BD8B29-DEF3-4479-83B9-3EACE0115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83"/>
          <a:stretch/>
        </p:blipFill>
        <p:spPr>
          <a:xfrm>
            <a:off x="4767582" y="2672795"/>
            <a:ext cx="6744388" cy="261137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7AA5693-188A-5A86-F56E-D1D1B6E8E0D2}"/>
              </a:ext>
            </a:extLst>
          </p:cNvPr>
          <p:cNvSpPr txBox="1"/>
          <p:nvPr/>
        </p:nvSpPr>
        <p:spPr>
          <a:xfrm>
            <a:off x="4775858" y="1076618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KEM of PBCS consists of </a:t>
            </a:r>
            <a:r>
              <a:rPr lang="en-US" altLang="zh-CN" dirty="0">
                <a:solidFill>
                  <a:srgbClr val="1C1F23"/>
                </a:solidFill>
                <a:latin typeface="Inter"/>
              </a:rPr>
              <a:t>3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 procedures: Register, Give and Take. 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85727823-EF69-7DFD-8C9A-B088BD1417F9}"/>
                  </a:ext>
                </a:extLst>
              </p14:cNvPr>
              <p14:cNvContentPartPr/>
              <p14:nvPr/>
            </p14:nvContentPartPr>
            <p14:xfrm>
              <a:off x="7775658" y="2885673"/>
              <a:ext cx="360" cy="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85727823-EF69-7DFD-8C9A-B088BD1417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66658" y="287703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955D45D9-161D-4927-B131-DD6F2C2D52B3}"/>
              </a:ext>
            </a:extLst>
          </p:cNvPr>
          <p:cNvSpPr txBox="1"/>
          <p:nvPr/>
        </p:nvSpPr>
        <p:spPr>
          <a:xfrm>
            <a:off x="4727658" y="23277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Login scheme = (</a:t>
            </a:r>
            <a:r>
              <a:rPr lang="en-US" altLang="zh-CN" dirty="0" err="1"/>
              <a:t>AuthReg</a:t>
            </a:r>
            <a:r>
              <a:rPr lang="en-US" altLang="zh-CN" dirty="0"/>
              <a:t>, login)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0205FF9-DA49-ED3D-58DA-361433925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313" y="0"/>
            <a:ext cx="3794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4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D2185-4C42-7817-FCE8-4529B8F4A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B337DB-2F18-0621-9B38-A95DE4A3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A8C07A-6B6F-A4CD-C043-2D4DFC351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6" y="1183971"/>
            <a:ext cx="4467812" cy="23339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DC5314-185C-F68D-10AB-C5EB98B9B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56" t="59788" r="23958" b="-6672"/>
          <a:stretch/>
        </p:blipFill>
        <p:spPr>
          <a:xfrm>
            <a:off x="5353665" y="1653015"/>
            <a:ext cx="5619135" cy="27357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2D3EB7A2-F53B-8F44-DD05-50CBB921C376}"/>
                  </a:ext>
                </a:extLst>
              </p14:cNvPr>
              <p14:cNvContentPartPr/>
              <p14:nvPr/>
            </p14:nvContentPartPr>
            <p14:xfrm>
              <a:off x="7405938" y="4176273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2D3EB7A2-F53B-8F44-DD05-50CBB921C3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6938" y="41676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BC3FC50-0EF7-C5EC-B672-C112DE55A067}"/>
                  </a:ext>
                </a:extLst>
              </p14:cNvPr>
              <p14:cNvContentPartPr/>
              <p14:nvPr/>
            </p14:nvContentPartPr>
            <p14:xfrm>
              <a:off x="7250058" y="5739033"/>
              <a:ext cx="360" cy="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BC3FC50-0EF7-C5EC-B672-C112DE55A0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41418" y="57303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2CBA01F-5FEA-FE42-F464-9FF4914B6BCD}"/>
                  </a:ext>
                </a:extLst>
              </p:cNvPr>
              <p:cNvSpPr txBox="1"/>
              <p:nvPr/>
            </p:nvSpPr>
            <p:spPr>
              <a:xfrm>
                <a:off x="5656224" y="492818"/>
                <a:ext cx="1593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𝑃𝑅𝐹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2CBA01F-5FEA-FE42-F464-9FF4914B6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224" y="492818"/>
                <a:ext cx="1593834" cy="276999"/>
              </a:xfrm>
              <a:prstGeom prst="rect">
                <a:avLst/>
              </a:prstGeom>
              <a:blipFill>
                <a:blip r:embed="rId7"/>
                <a:stretch>
                  <a:fillRect l="-3065" r="-2682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AD7E857B-F268-C418-FDDC-9A1AEA44E1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37" t="36431" r="23401" b="55210"/>
          <a:stretch/>
        </p:blipFill>
        <p:spPr>
          <a:xfrm>
            <a:off x="4619425" y="812923"/>
            <a:ext cx="6946804" cy="552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7C455F-0746-7BDA-3108-C38383BFC9C6}"/>
                  </a:ext>
                </a:extLst>
              </p:cNvPr>
              <p:cNvSpPr txBox="1"/>
              <p:nvPr/>
            </p:nvSpPr>
            <p:spPr>
              <a:xfrm>
                <a:off x="5604605" y="1365628"/>
                <a:ext cx="4055597" cy="2873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𝑂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𝑃𝑅𝐹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h𝑎𝑠h𝐷𝐻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):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7C455F-0746-7BDA-3108-C38383BFC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605" y="1365628"/>
                <a:ext cx="4055597" cy="287386"/>
              </a:xfrm>
              <a:prstGeom prst="rect">
                <a:avLst/>
              </a:prstGeom>
              <a:blipFill>
                <a:blip r:embed="rId8"/>
                <a:stretch>
                  <a:fillRect l="-751" r="-1502" b="-361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3265D04-27A5-FBD3-BED4-DC713B696E02}"/>
                  </a:ext>
                </a:extLst>
              </p:cNvPr>
              <p:cNvSpPr txBox="1"/>
              <p:nvPr/>
            </p:nvSpPr>
            <p:spPr>
              <a:xfrm>
                <a:off x="-440820" y="4182837"/>
                <a:ext cx="6097044" cy="995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𝐼𝐵𝑂𝑃𝑅𝐹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(3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h𝑎𝑠h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):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𝑚𝑠𝑘</m:t>
                              </m:r>
                            </m:e>
                          </m:d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         pp</a:t>
                </a:r>
                <a:r>
                  <a:rPr lang="en-US" altLang="zh-CN" dirty="0">
                    <a:sym typeface="Wingdings" panose="05000000000000000000" pitchFamily="2" charset="2"/>
                  </a:rPr>
                  <a:t>:(p, H1, H2, H3), (id, pp) public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3265D04-27A5-FBD3-BED4-DC713B696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0820" y="4182837"/>
                <a:ext cx="6097044" cy="995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009F5ED1-A0BE-D4F3-9DBF-748977258A0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0284" t="41389" r="10342" b="5721"/>
          <a:stretch/>
        </p:blipFill>
        <p:spPr>
          <a:xfrm>
            <a:off x="5312539" y="4068905"/>
            <a:ext cx="5758558" cy="239826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5E1162A-CFC4-D7B6-99C3-CD64611D11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493" y="1089275"/>
            <a:ext cx="5393346" cy="53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9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FB0CB-03FF-BF62-BE2E-47E3C3BA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6D14A2-81B6-AE95-7F08-83C9ABD5D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268726-9E77-53FD-D2C8-B701AEB78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6" y="1183971"/>
            <a:ext cx="4467812" cy="23339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BCB766-5546-6FE4-FDF3-1243B974F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858" y="2660656"/>
            <a:ext cx="6727837" cy="315655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05FCA08-440E-D86A-628F-AE6B76C329ED}"/>
              </a:ext>
            </a:extLst>
          </p:cNvPr>
          <p:cNvSpPr txBox="1"/>
          <p:nvPr/>
        </p:nvSpPr>
        <p:spPr>
          <a:xfrm>
            <a:off x="2700965" y="605393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Syntax of the KEM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B6E598-AC4C-943B-A4CA-4544853FF7C1}"/>
              </a:ext>
            </a:extLst>
          </p:cNvPr>
          <p:cNvSpPr txBox="1"/>
          <p:nvPr/>
        </p:nvSpPr>
        <p:spPr>
          <a:xfrm>
            <a:off x="4775858" y="1076618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KEM of PBCS consists of </a:t>
            </a:r>
            <a:r>
              <a:rPr lang="en-US" altLang="zh-CN" dirty="0">
                <a:solidFill>
                  <a:srgbClr val="1C1F23"/>
                </a:solidFill>
                <a:latin typeface="Inter"/>
              </a:rPr>
              <a:t>3</a:t>
            </a:r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 procedures: Register, Give and Take.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D1E76E1-781E-E24B-1659-F7A6C22D19B3}"/>
              </a:ext>
            </a:extLst>
          </p:cNvPr>
          <p:cNvSpPr txBox="1"/>
          <p:nvPr/>
        </p:nvSpPr>
        <p:spPr>
          <a:xfrm>
            <a:off x="4864796" y="2357384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Register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D6FD66-4C33-D3C5-B794-F89EC30B857F}"/>
              </a:ext>
            </a:extLst>
          </p:cNvPr>
          <p:cNvSpPr txBox="1"/>
          <p:nvPr/>
        </p:nvSpPr>
        <p:spPr>
          <a:xfrm>
            <a:off x="226979" y="377727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Recall</a:t>
            </a:r>
          </a:p>
          <a:p>
            <a:r>
              <a:rPr lang="en-US" altLang="zh-CN" dirty="0"/>
              <a:t>Login scheme = (</a:t>
            </a:r>
            <a:r>
              <a:rPr lang="en-US" altLang="zh-CN" dirty="0" err="1"/>
              <a:t>AuthReg</a:t>
            </a:r>
            <a:r>
              <a:rPr lang="en-US" altLang="zh-CN" dirty="0"/>
              <a:t>, login)</a:t>
            </a:r>
          </a:p>
          <a:p>
            <a:r>
              <a:rPr lang="en-US" altLang="zh-CN" dirty="0"/>
              <a:t>IBOPRF : </a:t>
            </a:r>
            <a:r>
              <a:rPr lang="en-US" altLang="zh-CN" dirty="0" err="1"/>
              <a:t>pwd</a:t>
            </a:r>
            <a:r>
              <a:rPr lang="en-US" altLang="zh-CN" dirty="0"/>
              <a:t> = H3(pp, H1^(H2(</a:t>
            </a:r>
            <a:r>
              <a:rPr lang="en-US" altLang="zh-CN" dirty="0" err="1"/>
              <a:t>msk</a:t>
            </a:r>
            <a:r>
              <a:rPr lang="en-US" altLang="zh-CN" dirty="0"/>
              <a:t>, id)))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49EA8456-4922-7C3E-668E-FDB0C488BB9F}"/>
                  </a:ext>
                </a:extLst>
              </p14:cNvPr>
              <p14:cNvContentPartPr/>
              <p14:nvPr/>
            </p14:nvContentPartPr>
            <p14:xfrm>
              <a:off x="6037578" y="5635353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49EA8456-4922-7C3E-668E-FDB0C488BB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8578" y="56263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30AD53EA-6243-A54F-7257-B8586D34DAFD}"/>
                  </a:ext>
                </a:extLst>
              </p14:cNvPr>
              <p14:cNvContentPartPr/>
              <p14:nvPr/>
            </p14:nvContentPartPr>
            <p14:xfrm>
              <a:off x="10784538" y="4583793"/>
              <a:ext cx="142560" cy="2700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30AD53EA-6243-A54F-7257-B8586D34DA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75898" y="4574793"/>
                <a:ext cx="1602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4E727F97-A35B-EC53-BAB7-04EAED6E21B0}"/>
                  </a:ext>
                </a:extLst>
              </p14:cNvPr>
              <p14:cNvContentPartPr/>
              <p14:nvPr/>
            </p14:nvContentPartPr>
            <p14:xfrm>
              <a:off x="4954338" y="5669193"/>
              <a:ext cx="191520" cy="540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4E727F97-A35B-EC53-BAB7-04EAED6E21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45698" y="5660553"/>
                <a:ext cx="209160" cy="230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B510EA29-3B6B-B893-A42B-ABAFB2EFC499}"/>
              </a:ext>
            </a:extLst>
          </p:cNvPr>
          <p:cNvSpPr/>
          <p:nvPr/>
        </p:nvSpPr>
        <p:spPr>
          <a:xfrm>
            <a:off x="4954338" y="2945782"/>
            <a:ext cx="3764360" cy="114522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E28E96-DB55-6859-F8A5-5493D959893E}"/>
              </a:ext>
            </a:extLst>
          </p:cNvPr>
          <p:cNvSpPr/>
          <p:nvPr/>
        </p:nvSpPr>
        <p:spPr>
          <a:xfrm>
            <a:off x="308045" y="4972434"/>
            <a:ext cx="2463507" cy="43599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IBOPRF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C138DC-010D-E407-8F90-949D1B946D17}"/>
              </a:ext>
            </a:extLst>
          </p:cNvPr>
          <p:cNvSpPr/>
          <p:nvPr/>
        </p:nvSpPr>
        <p:spPr>
          <a:xfrm>
            <a:off x="308044" y="5491811"/>
            <a:ext cx="2463507" cy="435994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/>
                </a:solidFill>
              </a:rPr>
              <a:t>D login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01069A-9FB1-2493-F1AF-CC68C1556306}"/>
              </a:ext>
            </a:extLst>
          </p:cNvPr>
          <p:cNvSpPr/>
          <p:nvPr/>
        </p:nvSpPr>
        <p:spPr>
          <a:xfrm>
            <a:off x="7353751" y="3699353"/>
            <a:ext cx="3987643" cy="88444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64E371-6C6E-1952-D711-D7D26337256E}"/>
              </a:ext>
            </a:extLst>
          </p:cNvPr>
          <p:cNvSpPr/>
          <p:nvPr/>
        </p:nvSpPr>
        <p:spPr>
          <a:xfrm>
            <a:off x="308043" y="6011188"/>
            <a:ext cx="2463507" cy="43599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K login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A5A6F7-FF0F-E074-4BCF-82F27ECA1ED3}"/>
              </a:ext>
            </a:extLst>
          </p:cNvPr>
          <p:cNvSpPr/>
          <p:nvPr/>
        </p:nvSpPr>
        <p:spPr>
          <a:xfrm>
            <a:off x="4954338" y="4860251"/>
            <a:ext cx="3519449" cy="80894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16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2AA4B-0528-8FF9-B7D6-8EB1B8BC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6DF223-AE78-7E12-59F5-414E871B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C9EE5A-4109-7A96-AAD4-C0A41389E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6" y="1183971"/>
            <a:ext cx="4467812" cy="23339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9D3712-3FC4-E281-DEF2-EC3161DC9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598" y="1344349"/>
            <a:ext cx="6150689" cy="528947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73165BC-56A1-B2CC-4FA7-3445B29BA54F}"/>
              </a:ext>
            </a:extLst>
          </p:cNvPr>
          <p:cNvSpPr txBox="1"/>
          <p:nvPr/>
        </p:nvSpPr>
        <p:spPr>
          <a:xfrm>
            <a:off x="5078243" y="1058542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Give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9BD02A-FEC7-A00B-EFEE-08B8C56F9933}"/>
              </a:ext>
            </a:extLst>
          </p:cNvPr>
          <p:cNvSpPr txBox="1"/>
          <p:nvPr/>
        </p:nvSpPr>
        <p:spPr>
          <a:xfrm>
            <a:off x="226979" y="37772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Recall</a:t>
            </a:r>
          </a:p>
          <a:p>
            <a:r>
              <a:rPr lang="en-US" altLang="zh-CN" dirty="0"/>
              <a:t>Login scheme = (</a:t>
            </a:r>
            <a:r>
              <a:rPr lang="en-US" altLang="zh-CN" dirty="0" err="1"/>
              <a:t>AuthReg</a:t>
            </a:r>
            <a:r>
              <a:rPr lang="en-US" altLang="zh-CN" dirty="0"/>
              <a:t>, login)</a:t>
            </a:r>
          </a:p>
          <a:p>
            <a:r>
              <a:rPr lang="en-US" altLang="zh-CN" dirty="0"/>
              <a:t>IBOPRF : </a:t>
            </a:r>
            <a:r>
              <a:rPr lang="en-US" altLang="zh-CN" dirty="0" err="1"/>
              <a:t>pwd</a:t>
            </a:r>
            <a:r>
              <a:rPr lang="en-US" altLang="zh-CN" dirty="0"/>
              <a:t> = H3(pp, H1^(H2(</a:t>
            </a:r>
            <a:r>
              <a:rPr lang="en-US" altLang="zh-CN" dirty="0" err="1"/>
              <a:t>msk</a:t>
            </a:r>
            <a:r>
              <a:rPr lang="en-US" altLang="zh-CN" dirty="0"/>
              <a:t>, id)))</a:t>
            </a:r>
          </a:p>
          <a:p>
            <a:r>
              <a:rPr lang="en-US" altLang="zh-CN" dirty="0"/>
              <a:t> (</a:t>
            </a:r>
            <a:r>
              <a:rPr lang="en-US" altLang="zh-CN" dirty="0" err="1"/>
              <a:t>KeyGen</a:t>
            </a:r>
            <a:r>
              <a:rPr lang="en-US" altLang="zh-CN" dirty="0"/>
              <a:t>, Enc, Dec) :symmetric encryption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E94B0EE8-1700-2599-259A-25FE284D8389}"/>
                  </a:ext>
                </a:extLst>
              </p14:cNvPr>
              <p14:cNvContentPartPr/>
              <p14:nvPr/>
            </p14:nvContentPartPr>
            <p14:xfrm>
              <a:off x="8028378" y="1523793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E94B0EE8-1700-2599-259A-25FE284D83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19378" y="15151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E0CF90A6-168C-509E-C2EA-1F78A6ACBB20}"/>
                  </a:ext>
                </a:extLst>
              </p14:cNvPr>
              <p14:cNvContentPartPr/>
              <p14:nvPr/>
            </p14:nvContentPartPr>
            <p14:xfrm>
              <a:off x="11400498" y="5609433"/>
              <a:ext cx="360" cy="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E0CF90A6-168C-509E-C2EA-1F78A6ACBB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91858" y="560079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3E911135-221E-4E9D-FE87-048018157388}"/>
              </a:ext>
            </a:extLst>
          </p:cNvPr>
          <p:cNvSpPr txBox="1"/>
          <p:nvPr/>
        </p:nvSpPr>
        <p:spPr>
          <a:xfrm>
            <a:off x="2700965" y="605393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Syntax of the KEM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C89EA9-AC4D-90B3-0F3E-0F5AF2F7EF7F}"/>
              </a:ext>
            </a:extLst>
          </p:cNvPr>
          <p:cNvSpPr/>
          <p:nvPr/>
        </p:nvSpPr>
        <p:spPr>
          <a:xfrm>
            <a:off x="308045" y="4972434"/>
            <a:ext cx="2463507" cy="43599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IBOPRF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EE7877-1A29-37C9-5B41-318B5925F658}"/>
              </a:ext>
            </a:extLst>
          </p:cNvPr>
          <p:cNvSpPr/>
          <p:nvPr/>
        </p:nvSpPr>
        <p:spPr>
          <a:xfrm>
            <a:off x="308044" y="5491811"/>
            <a:ext cx="2463507" cy="435994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/>
                </a:solidFill>
              </a:rPr>
              <a:t>D login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CBA53B-98F0-4E03-1A2A-6F8786DBD8E4}"/>
              </a:ext>
            </a:extLst>
          </p:cNvPr>
          <p:cNvSpPr/>
          <p:nvPr/>
        </p:nvSpPr>
        <p:spPr>
          <a:xfrm>
            <a:off x="308043" y="6011188"/>
            <a:ext cx="2463507" cy="43599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K login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12061B-A2FC-A53D-EEE8-1FDE571C0BA1}"/>
              </a:ext>
            </a:extLst>
          </p:cNvPr>
          <p:cNvSpPr/>
          <p:nvPr/>
        </p:nvSpPr>
        <p:spPr>
          <a:xfrm>
            <a:off x="5216608" y="1687218"/>
            <a:ext cx="3764360" cy="114522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C31C76-DC38-1967-78ED-DC7B3EADB6D3}"/>
              </a:ext>
            </a:extLst>
          </p:cNvPr>
          <p:cNvSpPr/>
          <p:nvPr/>
        </p:nvSpPr>
        <p:spPr>
          <a:xfrm>
            <a:off x="7098788" y="2502195"/>
            <a:ext cx="3987643" cy="815163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8D00570-E1D8-83E7-94CC-76DAB302E100}"/>
              </a:ext>
            </a:extLst>
          </p:cNvPr>
          <p:cNvSpPr/>
          <p:nvPr/>
        </p:nvSpPr>
        <p:spPr>
          <a:xfrm>
            <a:off x="7413177" y="2909776"/>
            <a:ext cx="1230401" cy="301814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F721139-E4B9-B618-A562-844405B7E326}"/>
              </a:ext>
            </a:extLst>
          </p:cNvPr>
          <p:cNvSpPr/>
          <p:nvPr/>
        </p:nvSpPr>
        <p:spPr>
          <a:xfrm>
            <a:off x="9791326" y="3626364"/>
            <a:ext cx="1230401" cy="301814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1F4D513-D3F0-63D7-01F9-B01627E33362}"/>
              </a:ext>
            </a:extLst>
          </p:cNvPr>
          <p:cNvSpPr/>
          <p:nvPr/>
        </p:nvSpPr>
        <p:spPr>
          <a:xfrm>
            <a:off x="5216608" y="3647419"/>
            <a:ext cx="3519449" cy="159964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49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2" grpId="0" animBg="1"/>
      <p:bldP spid="33" grpId="0" animBg="1"/>
      <p:bldP spid="3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6C1C4-86BC-D193-7EAD-362491DA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C3B200-BCAA-EE0B-94D1-F88C19A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909452-CAE8-910C-C15D-59CF008DF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6" y="1183971"/>
            <a:ext cx="4467812" cy="23339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CC123E8-C04E-9079-6BFB-57EA11297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989" y="1504441"/>
            <a:ext cx="6405332" cy="426379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3207ECD-F00F-5BD9-448C-6018A4713E34}"/>
              </a:ext>
            </a:extLst>
          </p:cNvPr>
          <p:cNvSpPr txBox="1"/>
          <p:nvPr/>
        </p:nvSpPr>
        <p:spPr>
          <a:xfrm>
            <a:off x="4769956" y="1183971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C1F23"/>
                </a:solidFill>
                <a:effectLst/>
                <a:latin typeface="Inter"/>
              </a:rPr>
              <a:t>Take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2B7DAFA6-A992-F007-FB8C-73FFD6DD3D25}"/>
                  </a:ext>
                </a:extLst>
              </p14:cNvPr>
              <p14:cNvContentPartPr/>
              <p14:nvPr/>
            </p14:nvContentPartPr>
            <p14:xfrm>
              <a:off x="7924338" y="5790873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2B7DAFA6-A992-F007-FB8C-73FFD6DD3D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5698" y="578223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288370C3-94D1-EA60-71C9-15313E4E68AE}"/>
              </a:ext>
            </a:extLst>
          </p:cNvPr>
          <p:cNvSpPr txBox="1"/>
          <p:nvPr/>
        </p:nvSpPr>
        <p:spPr>
          <a:xfrm>
            <a:off x="2700965" y="605393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Syntax of the KEM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02151E-DB7A-2598-F0BB-6BC0F043D4EC}"/>
              </a:ext>
            </a:extLst>
          </p:cNvPr>
          <p:cNvSpPr txBox="1"/>
          <p:nvPr/>
        </p:nvSpPr>
        <p:spPr>
          <a:xfrm>
            <a:off x="226979" y="37772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Recall</a:t>
            </a:r>
          </a:p>
          <a:p>
            <a:r>
              <a:rPr lang="en-US" altLang="zh-CN" dirty="0"/>
              <a:t>Login scheme = (</a:t>
            </a:r>
            <a:r>
              <a:rPr lang="en-US" altLang="zh-CN" dirty="0" err="1"/>
              <a:t>AuthReg</a:t>
            </a:r>
            <a:r>
              <a:rPr lang="en-US" altLang="zh-CN" dirty="0"/>
              <a:t>, login)</a:t>
            </a:r>
          </a:p>
          <a:p>
            <a:r>
              <a:rPr lang="en-US" altLang="zh-CN" dirty="0"/>
              <a:t>IBOPRF : </a:t>
            </a:r>
            <a:r>
              <a:rPr lang="en-US" altLang="zh-CN" dirty="0" err="1"/>
              <a:t>pwd</a:t>
            </a:r>
            <a:r>
              <a:rPr lang="en-US" altLang="zh-CN" dirty="0"/>
              <a:t> = H3(pp, H1^(H2(</a:t>
            </a:r>
            <a:r>
              <a:rPr lang="en-US" altLang="zh-CN" dirty="0" err="1"/>
              <a:t>msk</a:t>
            </a:r>
            <a:r>
              <a:rPr lang="en-US" altLang="zh-CN" dirty="0"/>
              <a:t>, id)))</a:t>
            </a:r>
          </a:p>
          <a:p>
            <a:r>
              <a:rPr lang="en-US" altLang="zh-CN" dirty="0"/>
              <a:t> (</a:t>
            </a:r>
            <a:r>
              <a:rPr lang="en-US" altLang="zh-CN" dirty="0" err="1"/>
              <a:t>KeyGen</a:t>
            </a:r>
            <a:r>
              <a:rPr lang="en-US" altLang="zh-CN" dirty="0"/>
              <a:t>, Enc, Dec) :symmetric encryption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24900B7-38F7-74DF-B60C-03348B8D19DC}"/>
              </a:ext>
            </a:extLst>
          </p:cNvPr>
          <p:cNvSpPr/>
          <p:nvPr/>
        </p:nvSpPr>
        <p:spPr>
          <a:xfrm>
            <a:off x="308045" y="4972434"/>
            <a:ext cx="2463507" cy="43599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IBOPRF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54209F-530A-CC9C-3F19-AB4D97EE29AA}"/>
              </a:ext>
            </a:extLst>
          </p:cNvPr>
          <p:cNvSpPr/>
          <p:nvPr/>
        </p:nvSpPr>
        <p:spPr>
          <a:xfrm>
            <a:off x="308044" y="5491811"/>
            <a:ext cx="2463507" cy="435994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/>
                </a:solidFill>
              </a:rPr>
              <a:t>D login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6F9C681-F01C-7640-59F1-05DB954A75E5}"/>
              </a:ext>
            </a:extLst>
          </p:cNvPr>
          <p:cNvSpPr/>
          <p:nvPr/>
        </p:nvSpPr>
        <p:spPr>
          <a:xfrm>
            <a:off x="308043" y="6011188"/>
            <a:ext cx="2463507" cy="43599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K login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AC2191F-02ED-C33B-3F9C-3D8597ADA148}"/>
              </a:ext>
            </a:extLst>
          </p:cNvPr>
          <p:cNvSpPr/>
          <p:nvPr/>
        </p:nvSpPr>
        <p:spPr>
          <a:xfrm>
            <a:off x="4901115" y="1778337"/>
            <a:ext cx="3764360" cy="1205868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44C99C-B1E4-13B4-7782-0CA0371949A2}"/>
              </a:ext>
            </a:extLst>
          </p:cNvPr>
          <p:cNvSpPr/>
          <p:nvPr/>
        </p:nvSpPr>
        <p:spPr>
          <a:xfrm>
            <a:off x="7098788" y="2502195"/>
            <a:ext cx="3987643" cy="536405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FDCC7-3F5B-E958-3967-98A56E875B11}"/>
              </a:ext>
            </a:extLst>
          </p:cNvPr>
          <p:cNvSpPr/>
          <p:nvPr/>
        </p:nvSpPr>
        <p:spPr>
          <a:xfrm>
            <a:off x="4901115" y="3359070"/>
            <a:ext cx="3697080" cy="138639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A75F58B-FEFC-96BE-1878-DEED65E03BE1}"/>
              </a:ext>
            </a:extLst>
          </p:cNvPr>
          <p:cNvSpPr/>
          <p:nvPr/>
        </p:nvSpPr>
        <p:spPr>
          <a:xfrm>
            <a:off x="4919808" y="4069354"/>
            <a:ext cx="1142472" cy="30808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88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B9D34-07FC-F7D7-9898-E7399891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D8767F-ECD8-A18D-DDD3-3FCA1486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0221EDCA-C941-2AC9-CD85-E48D13B0D1B9}"/>
                  </a:ext>
                </a:extLst>
              </p14:cNvPr>
              <p14:cNvContentPartPr/>
              <p14:nvPr/>
            </p14:nvContentPartPr>
            <p14:xfrm>
              <a:off x="7924338" y="5790873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0221EDCA-C941-2AC9-CD85-E48D13B0D1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5698" y="578223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5CE9B9F7-7E23-E99C-9D5C-D19B65435B1C}"/>
              </a:ext>
            </a:extLst>
          </p:cNvPr>
          <p:cNvSpPr txBox="1"/>
          <p:nvPr/>
        </p:nvSpPr>
        <p:spPr>
          <a:xfrm>
            <a:off x="2700965" y="605393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Syntax of the KEM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F8D1FE-F206-86C1-67C5-9BBDF99E0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93" y="974725"/>
            <a:ext cx="4690037" cy="342910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782767D-5484-CBB5-1E62-102DCDCDC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3379" y="790058"/>
            <a:ext cx="5049007" cy="42128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B70134-6349-F83F-4B83-733D4C0C46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152" y="605393"/>
            <a:ext cx="5582429" cy="55824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4DD8E05-38C8-D9B4-E4D9-806D77E2C1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9118" y="812698"/>
            <a:ext cx="5994612" cy="435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3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49A4C-BC73-A311-6C0A-DEE0E682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67E05B-E5CE-9E22-E240-B7E7A6A6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301FBF4D-0290-35EE-AA43-1EE0F534AE0B}"/>
                  </a:ext>
                </a:extLst>
              </p14:cNvPr>
              <p14:cNvContentPartPr/>
              <p14:nvPr/>
            </p14:nvContentPartPr>
            <p14:xfrm>
              <a:off x="7924338" y="5790873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0221EDCA-C941-2AC9-CD85-E48D13B0D1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5698" y="578223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1DCBD198-05D1-9458-E4E8-E8D306D71F99}"/>
              </a:ext>
            </a:extLst>
          </p:cNvPr>
          <p:cNvSpPr txBox="1"/>
          <p:nvPr/>
        </p:nvSpPr>
        <p:spPr>
          <a:xfrm>
            <a:off x="2700965" y="605393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Syntax of the KEM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E9A40E-3F6F-44EC-5AEC-032770528613}"/>
              </a:ext>
            </a:extLst>
          </p:cNvPr>
          <p:cNvSpPr txBox="1"/>
          <p:nvPr/>
        </p:nvSpPr>
        <p:spPr>
          <a:xfrm>
            <a:off x="3048000" y="935826"/>
            <a:ext cx="6096000" cy="498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</a:pPr>
            <a:r>
              <a:rPr lang="zh-CN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其余思考：</a:t>
            </a:r>
          </a:p>
          <a:p>
            <a:pPr indent="266700">
              <a:lnSpc>
                <a:spcPct val="200000"/>
              </a:lnSpc>
            </a:pPr>
            <a:r>
              <a:rPr lang="zh-CN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该方案可以视为将一个云服务器的任务拆成两个，如果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K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，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D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合谋，则与一个云服务器（同时储存密钥和加密后数据的）无异</a:t>
            </a:r>
          </a:p>
          <a:p>
            <a:pPr indent="266700">
              <a:lnSpc>
                <a:spcPct val="200000"/>
              </a:lnSpc>
            </a:pPr>
            <a:r>
              <a:rPr lang="zh-CN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该方案带来的灵感：</a:t>
            </a:r>
          </a:p>
          <a:p>
            <a:pPr indent="266700">
              <a:lnSpc>
                <a:spcPct val="200000"/>
              </a:lnSpc>
            </a:pPr>
            <a:r>
              <a:rPr lang="zh-CN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如果想做到便携性，就可以把强化的密钥的工作交给其它机构，不用用户完成</a:t>
            </a:r>
          </a:p>
          <a:p>
            <a:pPr indent="266700">
              <a:lnSpc>
                <a:spcPct val="200000"/>
              </a:lnSpc>
            </a:pPr>
            <a:r>
              <a:rPr lang="zh-CN" altLang="zh-CN" sz="1800" dirty="0">
                <a:effectLst/>
                <a:latin typeface="Arial" panose="020B0604020202020204" pitchFamily="34" charset="0"/>
                <a:ea typeface="仿宋" panose="02010609060101010101" pitchFamily="49" charset="-122"/>
              </a:rPr>
              <a:t>基于现行的基础设施构建安全方案，比较容易被纳入实用</a:t>
            </a:r>
          </a:p>
        </p:txBody>
      </p:sp>
    </p:spTree>
    <p:extLst>
      <p:ext uri="{BB962C8B-B14F-4D97-AF65-F5344CB8AC3E}">
        <p14:creationId xmlns:p14="http://schemas.microsoft.com/office/powerpoint/2010/main" val="1525839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855BF-C3D9-5C2A-1E0A-1A0D1E36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 Philosophy of Real-world Secure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8083A48-F898-0338-1AE8-4DA24050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141A72-21F7-A510-897C-EF1D1EB2A4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520"/>
          <a:stretch/>
        </p:blipFill>
        <p:spPr bwMode="auto">
          <a:xfrm>
            <a:off x="1221921" y="2052028"/>
            <a:ext cx="9748157" cy="40138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578074F-9310-31E2-9635-74254744A68E}"/>
                  </a:ext>
                </a:extLst>
              </p14:cNvPr>
              <p14:cNvContentPartPr/>
              <p14:nvPr/>
            </p14:nvContentPartPr>
            <p14:xfrm>
              <a:off x="-470691" y="6983983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578074F-9310-31E2-9635-74254744A6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79331" y="697534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0063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3F520-088B-9048-CEE0-7095BCEAF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ED9AD-733C-CBB1-87CF-7D21B48D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2B40EDC-81C8-0B97-F48C-6197A852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82A41E-6235-A626-6CA7-5EE79EEC60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550"/>
          <a:stretch/>
        </p:blipFill>
        <p:spPr bwMode="auto">
          <a:xfrm>
            <a:off x="1279261" y="2136855"/>
            <a:ext cx="9633478" cy="32382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27090863"/>
      </p:ext>
    </p:extLst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fon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水滴</Template>
  <TotalTime>1490</TotalTime>
  <Words>2227</Words>
  <Application>Microsoft Office PowerPoint</Application>
  <PresentationFormat>宽屏</PresentationFormat>
  <Paragraphs>157</Paragraphs>
  <Slides>25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Inter</vt:lpstr>
      <vt:lpstr>等线</vt:lpstr>
      <vt:lpstr>Arial</vt:lpstr>
      <vt:lpstr>Cambria Math</vt:lpstr>
      <vt:lpstr>Wingdings</vt:lpstr>
      <vt:lpstr>水滴</vt:lpstr>
      <vt:lpstr>End-to-Same-End Encryption:  </vt:lpstr>
      <vt:lpstr>Cloud is Pervasive  </vt:lpstr>
      <vt:lpstr>Data breach in the cloud</vt:lpstr>
      <vt:lpstr>Attempts for Secure Cloud Storage </vt:lpstr>
      <vt:lpstr>Attempts for Secure Cloud Storage </vt:lpstr>
      <vt:lpstr>Basic requirements of cloud storage </vt:lpstr>
      <vt:lpstr>Basic requirements of cloud storage </vt:lpstr>
      <vt:lpstr>Break The Box</vt:lpstr>
      <vt:lpstr>State-of-the-art with Two Server</vt:lpstr>
      <vt:lpstr>Our goals</vt:lpstr>
      <vt:lpstr>High-level overview</vt:lpstr>
      <vt:lpstr>Our solution</vt:lpstr>
      <vt:lpstr>Our solution</vt:lpstr>
      <vt:lpstr>Efficiency comparison</vt:lpstr>
      <vt:lpstr>PBCS system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Design Philosophy of Real-world Secure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献 陈</dc:creator>
  <cp:lastModifiedBy>献 陈</cp:lastModifiedBy>
  <cp:revision>4</cp:revision>
  <dcterms:created xsi:type="dcterms:W3CDTF">2024-11-14T05:18:29Z</dcterms:created>
  <dcterms:modified xsi:type="dcterms:W3CDTF">2024-11-16T04:57:52Z</dcterms:modified>
</cp:coreProperties>
</file>