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7" r:id="rId5"/>
    <p:sldId id="280" r:id="rId6"/>
    <p:sldId id="266" r:id="rId7"/>
    <p:sldId id="279" r:id="rId8"/>
    <p:sldId id="267" r:id="rId9"/>
    <p:sldId id="269" r:id="rId10"/>
    <p:sldId id="270" r:id="rId11"/>
    <p:sldId id="271" r:id="rId12"/>
    <p:sldId id="268" r:id="rId13"/>
    <p:sldId id="272" r:id="rId14"/>
    <p:sldId id="273" r:id="rId15"/>
    <p:sldId id="274" r:id="rId16"/>
    <p:sldId id="276" r:id="rId17"/>
    <p:sldId id="275" r:id="rId18"/>
    <p:sldId id="278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8CA"/>
    <a:srgbClr val="FFB1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AF97F2F-A21F-4444-A293-0696BC6C805E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/>
              </a:solidFill>
              <a:prstDash val="solid"/>
            </a:ln>
          </a:insideH>
          <a:insideV>
            <a:ln w="9525" cmpd="sng">
              <a:solidFill>
                <a:schemeClr val="dk1"/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band1H>
    <a:band1V>
      <a:tcStyle>
        <a:tcBdr/>
        <a:fill>
          <a:solidFill>
            <a:srgbClr val="FFFFFF"/>
          </a:solidFill>
        </a:fill>
      </a:tcStyle>
    </a:band1V>
    <a:band2V>
      <a:tcStyle>
        <a:tcBdr/>
        <a:fill>
          <a:solidFill>
            <a:schemeClr val="dk1">
              <a:lumMod val="20000"/>
              <a:lumOff val="80000"/>
            </a:schemeClr>
          </a:solidFill>
        </a:fill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00000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6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D5522-2B45-46B8-A95C-A35FC89DF8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31125-1E32-43BE-879A-EB803C1AA3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image" Target="../media/image2.jpeg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.png"/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to Modern Cryptography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02136"/>
            <a:ext cx="9144000" cy="119623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Chapter 1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 Introduction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20407" y="1549230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1.1 Cryptography and Modern Cryptography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0407" y="23817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1.2 The Setting of Private-Key Encryption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0407" y="3214200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20407" y="404668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1.4 Principles of Modern Cryptography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95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1.1 Cryptography and Modern Cryptography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 descr="templates\picture_hover\&amp;pky280_sjzg_VCG211351087949&amp;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0458" y="1128078"/>
            <a:ext cx="1741170" cy="1767205"/>
          </a:xfrm>
          <a:prstGeom prst="rect">
            <a:avLst/>
          </a:prstGeom>
        </p:spPr>
      </p:pic>
      <p:pic>
        <p:nvPicPr>
          <p:cNvPr id="4" name="图片 3" descr="templates\picture_hover\&amp;pky220_sjzg_VCG211344509799&amp;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05103" y="1213485"/>
            <a:ext cx="2235200" cy="1596390"/>
          </a:xfrm>
          <a:prstGeom prst="ellipse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5"/>
            </p:custDataLst>
          </p:nvPr>
        </p:nvGraphicFramePr>
        <p:xfrm>
          <a:off x="2009775" y="3128645"/>
          <a:ext cx="8172450" cy="3301365"/>
        </p:xfrm>
        <a:graphic>
          <a:graphicData uri="http://schemas.openxmlformats.org/drawingml/2006/table">
            <a:tbl>
              <a:tblPr firstCol="1" bandCol="1">
                <a:tableStyleId>{9AF97F2F-A21F-4444-A293-0696BC6C805E}</a:tableStyleId>
              </a:tblPr>
              <a:tblGrid>
                <a:gridCol w="2724150"/>
                <a:gridCol w="2724150"/>
                <a:gridCol w="2724150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经典密码学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现代密码学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039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秘密通讯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作用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秘密通讯、消息完整性、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密钥管理、身份认证...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 dirty="0"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创造力、直觉</a:t>
                      </a:r>
                      <a:endParaRPr lang="zh-CN" altLang="en-US" b="0" dirty="0">
                        <a:highlight>
                          <a:srgbClr val="FFFF00"/>
                        </a:highlight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 dirty="0"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理论依据</a:t>
                      </a:r>
                      <a:endParaRPr lang="zh-CN" altLang="en-US" b="0" dirty="0">
                        <a:highlight>
                          <a:srgbClr val="FFFF00"/>
                        </a:highlight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 dirty="0"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数学理论</a:t>
                      </a:r>
                      <a:endParaRPr lang="zh-CN" altLang="en-US" b="0" dirty="0">
                        <a:highlight>
                          <a:srgbClr val="FFFF00"/>
                        </a:highlight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军事组织与政府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使用范围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日常应用与开发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1164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编写或破解密码的</a:t>
                      </a:r>
                      <a:r>
                        <a:rPr lang="zh-CN" altLang="en-US" b="1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艺术</a:t>
                      </a:r>
                      <a:endParaRPr lang="zh-CN" altLang="en-US" b="1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定义</a:t>
                      </a:r>
                      <a:endParaRPr lang="zh-CN" altLang="en-US" b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用以保护数字信息、系统以及分布式计算免受敌手攻击的</a:t>
                      </a:r>
                      <a:r>
                        <a:rPr lang="zh-CN" altLang="en-US" b="1" dirty="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数学技术</a:t>
                      </a:r>
                      <a:endParaRPr lang="zh-CN" altLang="en-US" b="1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1.2 The Setting of Private-Key Encryption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 descr="2026-07-25_13-52-45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5515" y="986155"/>
            <a:ext cx="4642485" cy="2614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47675" y="908685"/>
                <a:ext cx="6442710" cy="562102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私钥加密</a:t>
                </a:r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通讯双方共享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同一个密钥（</a:t>
                </a:r>
                <a:r>
                  <a:rPr lang="en-US" altLang="zh-CN" sz="20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Key</a:t>
                </a:r>
                <a:r>
                  <a:rPr lang="zh-CN" altLang="en-US" sz="20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，发送方借助共享密钥对消息（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Message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）进行加密（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Encrypt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），得到密文（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Cipher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）并发送给接收方，接收方通过密钥解密（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Decrypt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），从密文中恢复出原始信息</a:t>
                </a:r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形式化表达</a:t>
                </a:r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密钥生成算法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Gen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</a:t>
                </a:r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一个概率算法，输出一个按某种分布选取的密钥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k</a:t>
                </a:r>
                <a:endParaRPr lang="en-US" altLang="zh-CN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en-US" altLang="zh-CN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加密算法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Enc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</a:t>
                </a:r>
                <a:endParaRPr lang="zh-CN" altLang="en-US" sz="20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输入密钥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k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与消息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m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，输出密文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c</a:t>
                </a:r>
                <a:r>
                  <a:rPr lang="zh-CN" altLang="en-US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，用</a:t>
                </a:r>
                <a:r>
                  <a:rPr lang="en-US" altLang="zh-CN" sz="20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𝐸𝑛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𝑘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𝑚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000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表示</a:t>
                </a:r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解密算法</a:t>
                </a:r>
                <a:r>
                  <a:rPr lang="en-US" altLang="zh-CN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Dec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：</a:t>
                </a:r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输入密钥</a:t>
                </a:r>
                <a:r>
                  <a:rPr lang="en-US" altLang="zh-CN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k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与密文</a:t>
                </a:r>
                <a:r>
                  <a:rPr lang="en-US" altLang="zh-CN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c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，输出明文</a:t>
                </a:r>
                <a:r>
                  <a:rPr lang="en-US" altLang="zh-CN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m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，用</a:t>
                </a:r>
                <a:r>
                  <a:rPr lang="en-US" altLang="zh-CN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𝐷𝑒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𝑘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𝑐</m:t>
                    </m:r>
                    <m:r>
                      <a:rPr lang="en-US" altLang="zh-CN" sz="20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000" b="1" i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表示</a:t>
                </a:r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r>
                  <a:rPr lang="zh-CN" altLang="en-US" sz="20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正确性要求：</a:t>
                </a:r>
                <a:endParaRPr lang="zh-CN" altLang="en-US" sz="20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𝐷𝑒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𝐸𝑛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charset="0"/>
                              <a:ea typeface="华文中宋" panose="02010600040101010101" pitchFamily="2" charset="-122"/>
                              <a:cs typeface="Cambria Math" panose="02040503050406030204" charset="0"/>
                              <a:sym typeface="+mn-ea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𝑚</m:t>
                      </m:r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))=</m:t>
                      </m:r>
                      <m:r>
                        <a:rPr lang="en-US" altLang="zh-CN" sz="2000" b="1" i="1">
                          <a:latin typeface="Cambria Math" panose="02040503050406030204" charset="0"/>
                          <a:ea typeface="华文中宋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𝑚</m:t>
                      </m:r>
                    </m:oMath>
                  </m:oMathPara>
                </a14:m>
                <a:endParaRPr lang="en-US" altLang="zh-CN" sz="2000" b="1" i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908685"/>
                <a:ext cx="6442710" cy="5621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PixPin_2026-07-25_20-45-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60" y="3659505"/>
            <a:ext cx="4172585" cy="2764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1.2 The Setting of Private-Key Encryption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7675" y="850265"/>
            <a:ext cx="93891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柯克霍夫原则（</a:t>
            </a:r>
            <a:r>
              <a:rPr lang="en-US" altLang="zh-CN" sz="2400" b="1" dirty="0" err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Kerckhoffs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' principle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）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&gt;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密码方案不必保密，它必须能够落入敌手而不致造成麻烦；安全性仅依赖于密钥的保密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理由：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1.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维持一个短密钥的保密性比维持一个秘密的加密方案更加容易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假设秘密信息泄露，更换密钥比更换整个加密方案更加容易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3.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公开密码方案能够验证其安全性，推动标准化，提高兼容性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124950" y="4279265"/>
            <a:ext cx="2800350" cy="24676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96875" y="842010"/>
                <a:ext cx="7391400" cy="40132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移位密码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密钥：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charset="0"/>
                        <a:ea typeface="华文中宋" panose="02010600040101010101" pitchFamily="2" charset="-122"/>
                        <a:cs typeface="Cambria Math" panose="02040503050406030204" charset="0"/>
                        <a:sym typeface="+mn-ea"/>
                      </a:rPr>
                      <m:t>𝒌</m:t>
                    </m:r>
                  </m:oMath>
                </a14:m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密钥空间：</a:t>
                </a:r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26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加密：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解密：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破解方式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1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：穷举攻击（</a:t>
                </a:r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brute-force attack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）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缺点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：自动化判定“有意义”困难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5" y="842010"/>
                <a:ext cx="7391400" cy="40132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LaTeXLive17849603192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55" y="2423795"/>
            <a:ext cx="7157085" cy="356235"/>
          </a:xfrm>
          <a:prstGeom prst="rect">
            <a:avLst/>
          </a:prstGeom>
        </p:spPr>
      </p:pic>
      <p:pic>
        <p:nvPicPr>
          <p:cNvPr id="9" name="图片 8" descr="LaTeXLive17849603566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655" y="3161030"/>
            <a:ext cx="7199630" cy="357505"/>
          </a:xfrm>
          <a:prstGeom prst="rect">
            <a:avLst/>
          </a:prstGeom>
        </p:spPr>
      </p:pic>
      <p:pic>
        <p:nvPicPr>
          <p:cNvPr id="11" name="图片 10" descr="bruteforce_dem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75" y="5117465"/>
            <a:ext cx="495681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7675" y="850265"/>
            <a:ext cx="101339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充分密钥空间原则（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sufficient key-space principle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）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&gt; 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任何安全的加密方案的密钥空间都必须足够大，使穷举攻击不可行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这是保证加密方案安全的必要条件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96875" y="774065"/>
                <a:ext cx="5631180" cy="41719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单表代换密码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密钥：字母表到字母表的一种映射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密钥空间：</a:t>
                </a:r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26!≈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88</m:t>
                        </m:r>
                      </m:sup>
                    </m:sSup>
                  </m:oMath>
                </a14:m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破解方式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：统计攻击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事实依据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1. 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每个字母的映射固定</a:t>
                </a:r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</a:t>
                </a:r>
                <a:endParaRPr lang="en-US" altLang="zh-CN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2. 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英文文本中单个字母的频率分布已知</a:t>
                </a:r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</a:t>
                </a:r>
                <a:endParaRPr lang="en-US" altLang="zh-CN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en-US" altLang="zh-CN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3. 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英文常见知识可以辅助判断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5" y="774065"/>
                <a:ext cx="5631180" cy="41719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PixPin_2026-07-25_15-15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" y="5435600"/>
            <a:ext cx="5681345" cy="763270"/>
          </a:xfrm>
          <a:prstGeom prst="rect">
            <a:avLst/>
          </a:prstGeom>
        </p:spPr>
      </p:pic>
      <p:pic>
        <p:nvPicPr>
          <p:cNvPr id="4" name="图片 3" descr="PixPin_2026-07-25_14-46-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65" y="3303270"/>
            <a:ext cx="5792470" cy="3014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 descr="PixPin_2026-07-25_14-46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3909060"/>
            <a:ext cx="5224145" cy="2718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9110" y="7429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单表代换密码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破解方式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：统计攻击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110" y="1616075"/>
            <a:ext cx="55975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JGRMQOYGHMVBJWRWQFPWHGFFDQGFPFZRKBEEBJIZQQOCIBZKLFAFG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QVF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ZFWWEOGWOPFGFHWOLPHLRLOLFDMFGQWBLWBWQOLKFWBYLBLYLFSFLJGRMQBOLWJVFPFWQVHQWFFPQO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QVF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PQOCFPOGFWFJIGFQVHLHLRO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QVF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GWJVFPFOLFHGQV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QVF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ILEOGQILHQFQGIQVVOSFAFGBWQVHQWIJVWJVFPFWHGFIWIHZZRQGBABHZQOCGFHX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 descr="ex1_1_fre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3860800"/>
            <a:ext cx="5043805" cy="27666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64325" y="1573530"/>
            <a:ext cx="5274945" cy="2051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cryptographicsystemsareextremelydifficulttobuildnever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the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lessforsomereasonmanynonexpertsinsistondesigningnewencryptionschemesthatseemto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the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mtobemoresecurethananyo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the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rschemeonearth</a:t>
            </a:r>
            <a:r>
              <a:rPr lang="en-US" altLang="zh-CN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the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unfortunatetruthhoweveristhatsuchschemesareusuallytrivialtobreak</a:t>
            </a: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75410" y="3995420"/>
            <a:ext cx="356870" cy="255333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230870" y="3995420"/>
            <a:ext cx="356870" cy="255333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1.3 Historical Ciphers and Their Cryptanalysis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99110" y="742950"/>
                <a:ext cx="6687820" cy="309181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移位密码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破解方式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 2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：统计攻击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事实依据</a:t>
                </a:r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：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如果明文文本遵循英文分布，那么</a:t>
                </a:r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  <a:p>
                <a:r>
                  <a:rPr lang="zh-CN" altLang="en-US" sz="2400" b="1">
                    <a:latin typeface="华文中宋" panose="02010600040101010101" pitchFamily="2" charset="-122"/>
                    <a:ea typeface="华文中宋" panose="02010600040101010101" pitchFamily="2" charset="-122"/>
                    <a:sym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𝓅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charset="0"/>
                            <a:ea typeface="华文中宋" panose="02010600040101010101" pitchFamily="2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表示正常英文文本中第 </a:t>
                </a:r>
                <a:r>
                  <a:rPr lang="en-US" altLang="zh-CN" sz="24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i </a:t>
                </a:r>
                <a:r>
                  <a:rPr lang="zh-CN" altLang="en-US" sz="2400" b="1">
                    <a:latin typeface="Cambria Math" panose="02040503050406030204" charset="0"/>
                    <a:ea typeface="华文中宋" panose="02010600040101010101" pitchFamily="2" charset="-122"/>
                    <a:cs typeface="Cambria Math" panose="02040503050406030204" charset="0"/>
                    <a:sym typeface="+mn-ea"/>
                  </a:rPr>
                  <a:t>个字母的频率</a:t>
                </a:r>
                <a:endParaRPr lang="zh-CN" altLang="en-US" sz="2400" b="1">
                  <a:latin typeface="Cambria Math" panose="02040503050406030204" charset="0"/>
                  <a:ea typeface="华文中宋" panose="02010600040101010101" pitchFamily="2" charset="-122"/>
                  <a:cs typeface="Cambria Math" panose="02040503050406030204" charset="0"/>
                  <a:sym typeface="+mn-ea"/>
                </a:endParaRPr>
              </a:p>
              <a:p>
                <a:endParaRPr lang="zh-CN" altLang="en-US" sz="2400" b="1">
                  <a:latin typeface="华文中宋" panose="02010600040101010101" pitchFamily="2" charset="-122"/>
                  <a:ea typeface="华文中宋" panose="0201060004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742950"/>
                <a:ext cx="6687820" cy="3091815"/>
              </a:xfrm>
              <a:prstGeom prst="rect">
                <a:avLst/>
              </a:prstGeom>
              <a:blipFill rotWithShape="1">
                <a:blip r:embed="rId1"/>
                <a:stretch>
                  <a:fillRect b="-79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LaTeXLive17849855548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75" y="2666365"/>
            <a:ext cx="5073015" cy="622935"/>
          </a:xfrm>
          <a:prstGeom prst="rect">
            <a:avLst/>
          </a:prstGeom>
        </p:spPr>
      </p:pic>
      <p:pic>
        <p:nvPicPr>
          <p:cNvPr id="8" name="图片 7" descr="PixPin_2026-07-25_14-46-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" y="4032250"/>
            <a:ext cx="5031105" cy="26181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974850" y="2745740"/>
            <a:ext cx="654050" cy="463550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9" idx="2"/>
          </p:cNvCxnSpPr>
          <p:nvPr/>
        </p:nvCxnSpPr>
        <p:spPr>
          <a:xfrm flipH="1">
            <a:off x="984250" y="3209290"/>
            <a:ext cx="1317625" cy="1686560"/>
          </a:xfrm>
          <a:prstGeom prst="straightConnector1">
            <a:avLst/>
          </a:prstGeom>
          <a:ln w="1905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shift_attack_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615" y="4032250"/>
            <a:ext cx="6251575" cy="2515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875" y="791210"/>
            <a:ext cx="955738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单表代换密码：字符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字符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多表代换密码：字符块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  <a:sym typeface="+mn-ea"/>
              </a:rPr>
              <a:t>→ 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字符块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维吉尼亚密码：将多表代换密码的不同实例应用到明文的不同部分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t(19)+c(2)=V(21)	t(19)+e(4)=X(23)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730" y="2478405"/>
            <a:ext cx="963295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破解方式（密钥周期</a:t>
            </a:r>
            <a:r>
              <a:rPr lang="en-US" altLang="zh-CN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t </a:t>
            </a:r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已知）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将密文拆分为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条流，对每条流进行统计攻击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破解方式（密钥周期</a:t>
            </a:r>
            <a:r>
              <a:rPr lang="en-US" altLang="zh-CN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t </a:t>
            </a:r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未知）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先得到周期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，再按周期已知处理</a:t>
            </a:r>
            <a:endParaRPr lang="zh-CN" altLang="en-US" sz="24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得到周期的方式</a:t>
            </a:r>
            <a:endParaRPr lang="zh-CN" altLang="en-US" sz="2400" b="1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1. 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穷举法：穷举</a:t>
            </a:r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，但是该</a:t>
            </a:r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对不对需要进行下一步操作</a:t>
            </a:r>
            <a:endParaRPr lang="zh-CN" altLang="en-US" sz="2400" b="1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 Kasiski 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方法：识别常见重复模式（例如</a:t>
            </a:r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the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），取最大公约数</a:t>
            </a:r>
            <a:endParaRPr lang="zh-CN" altLang="en-US" sz="2400" b="1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3. 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重合指数法：穷举</a:t>
            </a:r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，但是在此步内就能判断这个</a:t>
            </a:r>
            <a:r>
              <a:rPr lang="en-US" altLang="zh-CN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t</a:t>
            </a:r>
            <a:r>
              <a:rPr lang="zh-CN" altLang="en-US" sz="2400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是否合理</a:t>
            </a:r>
            <a:endParaRPr lang="zh-CN" altLang="en-US" sz="2400" b="1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pic>
        <p:nvPicPr>
          <p:cNvPr id="10" name="图片 9" descr="vigenere_strea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7730" y="2863850"/>
            <a:ext cx="4803140" cy="1539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1.3 Historical Ciphers and Their Cryptanalysis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875" y="791210"/>
            <a:ext cx="955738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历史经验：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1.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充分密钥空间原则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更长的密钥需要敌手窃听更多的密文才能实施攻击，但是换句话说，只要敌手窃听了足够多的密文，就能实施攻击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3.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设计安全的密码方案很困难，而且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“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复杂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”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的方案未必安全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1.4 Principles of Modern Cryptography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330" y="819785"/>
            <a:ext cx="799147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Principle 1 – Formal Definitions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形式化定义：通过清晰的描述在哪些威胁存在的情况下（</a:t>
            </a:r>
            <a:r>
              <a:rPr lang="zh-CN" altLang="en-US" sz="20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威胁模型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），期望获得何种</a:t>
            </a:r>
            <a:r>
              <a:rPr lang="zh-CN" altLang="en-US" sz="2000" b="1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安全保证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，来明确该方案希望达成的目标和检验标准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理由：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指导密码方案的设计，避免返工或过度设计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提供一种评估和分析构造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的方式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使得方案间能够进行有意义的比较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275" y="3479800"/>
            <a:ext cx="45129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组成部分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1 - </a:t>
            </a:r>
            <a:r>
              <a:rPr lang="zh-CN" altLang="en-US" sz="2000" b="1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安全保证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该密码方案希望阻止敌手达成什么目的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957580" y="4462780"/>
          <a:ext cx="10276840" cy="17418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630"/>
                <a:gridCol w="3871595"/>
                <a:gridCol w="1364615"/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示例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不足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能否采纳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敌手无法恢复出密钥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密钥保密只是必要条件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❌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敌手无法从密文中恢复完整明文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可能恢复部分明文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  <a:sym typeface="+mn-ea"/>
                        </a:rPr>
                        <a:t>❌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  <a:sym typeface="+mn-ea"/>
                      </a:endParaRP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敌手无法从密文中恢复有关明文的任何字符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可能直接从密文中获取某些潜在信息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  <a:sym typeface="+mn-ea"/>
                        </a:rPr>
                        <a:t>❌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  <a:sym typeface="+mn-ea"/>
                      </a:endParaRPr>
                    </a:p>
                  </a:txBody>
                  <a:tcPr anchor="ctr"/>
                </a:tc>
              </a:tr>
              <a:tr h="4006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敌手无法从密文得到关于明文的任何额外信息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华文中宋" panose="02010600040101010101" pitchFamily="2" charset="-122"/>
                          <a:cs typeface="Arial" panose="020B0604020202020204" pitchFamily="34" charset="0"/>
                        </a:rPr>
                        <a:t>✅</a:t>
                      </a:r>
                      <a:endParaRPr lang="zh-CN" altLang="en-US" sz="1600">
                        <a:latin typeface="Arial" panose="020B0604020202020204" pitchFamily="34" charset="0"/>
                        <a:ea typeface="华文中宋" panose="0201060004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1.4 Principles of Modern Cryptography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330" y="819785"/>
            <a:ext cx="68154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组成部分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2 - </a:t>
            </a:r>
            <a:r>
              <a:rPr lang="zh-CN" altLang="en-US" sz="20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威胁模型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：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规定敌手拥有何种"能力"，但不对敌手的策略施加任何限制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735455" y="2212975"/>
          <a:ext cx="8721090" cy="302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1690"/>
                <a:gridCol w="6629400"/>
              </a:tblGrid>
              <a:tr h="399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威胁模型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敌手能力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434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唯密文攻击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只能观察一段或多段密文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728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已知明文攻击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+ </a:t>
                      </a: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能够得知同一密钥产生的一个或多个明文</a:t>
                      </a:r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/</a:t>
                      </a: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密文对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729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选择明文攻击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+ </a:t>
                      </a: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自行选择明文获取对应密文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729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选择密文攻击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+ </a:t>
                      </a:r>
                      <a:r>
                        <a:rPr lang="zh-CN" altLang="en-US" sz="1800"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华文中宋" panose="02010600040101010101" pitchFamily="2" charset="-122"/>
                        </a:rPr>
                        <a:t>自行选择密文获取对应明文</a:t>
                      </a:r>
                      <a:endParaRPr lang="zh-CN" altLang="en-US" sz="1800">
                        <a:latin typeface="华文中宋" panose="02010600040101010101" pitchFamily="2" charset="-122"/>
                        <a:ea typeface="华文中宋" panose="02010600040101010101" pitchFamily="2" charset="-122"/>
                        <a:cs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10600690" y="2284095"/>
            <a:ext cx="0" cy="287845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678795" y="2284095"/>
            <a:ext cx="459740" cy="25234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强度由弱到强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1.4 Principles of Modern Cryptography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330" y="819785"/>
            <a:ext cx="1091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Principle 2 – Precise Assumptions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假设：未被证明，但推测为真的陈述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精确假设：安全性证明依赖于假设，这些假设必须被明确而精准的陈述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理由：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1.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如果一个假设没有被精确的陈述，那么就无法有效的研究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2.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可以通过比较假设来确定密码学方案（通常选择依赖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更弱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研究更充分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的假设）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3.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如果加密方案的安全性依赖于底层假设，当发现此方案的某个底层构件的弱点时，我们只需要检查该假设是否会受影响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1330" y="4863465"/>
            <a:ext cx="85921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Principle 3 – Proofs of Security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安全性证明：在特定假设下，给出一个构造满足给定的某个定义的严谨证明</a:t>
            </a: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19621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Summary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330" y="819785"/>
            <a:ext cx="859218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1.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密码学已经从古典的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“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艺术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”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变为现代的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“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科学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”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2.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古典密码方案为启发式设计，虽然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“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复杂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”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，但是均有破解方案，即使面对初级敌手（如已知明文攻击）也无法保证安全性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3. “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形式化定义、精确假设、安全性证明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”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构成了现代密码学三原则，之后的章节的各种构造都依托于这套范式</a:t>
            </a:r>
            <a:endParaRPr lang="zh-CN" altLang="en-US" sz="2000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0_sjzg_VCG211351087949&quot;,&quot;origin&quot;:0,&quot;type&quot;:&quot;pictures&quot;,&quot;user&quot;:&quot;1060995270&quot;}"/>
</p:tagLst>
</file>

<file path=ppt/tags/tag2.xml><?xml version="1.0" encoding="utf-8"?>
<p:tagLst xmlns:p="http://schemas.openxmlformats.org/presentationml/2006/main">
  <p:tag name="KSO_DOCER_RESOURCE_TRACE_INFO" val="{&quot;id&quot;:&quot;0_sjzg_VCG211344509799&quot;,&quot;origin&quot;:0,&quot;type&quot;:&quot;pictures&quot;,&quot;user&quot;:&quot;1060995270&quot;}"/>
</p:tagLst>
</file>

<file path=ppt/tags/tag3.xml><?xml version="1.0" encoding="utf-8"?>
<p:tagLst xmlns:p="http://schemas.openxmlformats.org/presentationml/2006/main">
  <p:tag name="TABLE_ENDDRAG_ORIGIN_RECT" val="643*258"/>
  <p:tag name="TABLE_ENDDRAG_RECT" val="158*260*643*258"/>
  <p:tag name="TABLE_EMPHASIZE_COL" val="2"/>
  <p:tag name="TABLE_EMPHASIZE_COL_ID" val="4"/>
  <p:tag name="KSO_WM_UNIT_TABLE_BEAUTIFY" val="smartTable{25d9f551-c175-4a52-85d3-656554c4b95c}"/>
</p:tagLst>
</file>

<file path=ppt/tags/tag4.xml><?xml version="1.0" encoding="utf-8"?>
<p:tagLst xmlns:p="http://schemas.openxmlformats.org/presentationml/2006/main">
  <p:tag name="TABLE_ENDDRAG_ORIGIN_RECT" val="809*106"/>
  <p:tag name="TABLE_ENDDRAG_RECT" val="71*330*809*106"/>
</p:tagLst>
</file>

<file path=ppt/tags/tag5.xml><?xml version="1.0" encoding="utf-8"?>
<p:tagLst xmlns:p="http://schemas.openxmlformats.org/presentationml/2006/main">
  <p:tag name="TABLE_ENDDRAG_ORIGIN_RECT" val="686*239"/>
  <p:tag name="TABLE_ENDDRAG_RECT" val="45*142*686*239"/>
</p:tagLst>
</file>

<file path=ppt/tags/tag6.xml><?xml version="1.0" encoding="utf-8"?>
<p:tagLst xmlns:p="http://schemas.openxmlformats.org/presentationml/2006/main">
  <p:tag name="RESOURCE_RECORD_KEY" val="{&quot;29&quot;:[50000199,50052708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3329</Words>
  <Application>WPS 演示</Application>
  <PresentationFormat>宽屏</PresentationFormat>
  <Paragraphs>245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华文中宋</vt:lpstr>
      <vt:lpstr>Cambria Math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Introduction to Modern Cryptography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家瑞 薛</dc:creator>
  <cp:lastModifiedBy>拉哈啦大人</cp:lastModifiedBy>
  <cp:revision>145</cp:revision>
  <dcterms:created xsi:type="dcterms:W3CDTF">2026-07-25T05:15:00Z</dcterms:created>
  <dcterms:modified xsi:type="dcterms:W3CDTF">2026-07-26T05:15:20Z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EE7EAFD7CB6F4439B6E9006957393F8D_12</vt:lpwstr>
  </property>
</Properties>
</file>